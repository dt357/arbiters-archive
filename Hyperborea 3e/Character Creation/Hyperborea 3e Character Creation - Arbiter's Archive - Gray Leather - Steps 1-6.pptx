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80" r:id="rId3"/>
    <p:sldId id="27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C4E5"/>
    <a:srgbClr val="C838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50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8F651-A660-A50D-EBA8-CEE9C8AC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76B5C-D3FD-2CA5-B12C-E0ED55F67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F4D574-5FE7-7873-46A1-E7467E9C0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1B888-8424-09DF-CEF1-5CE9E39AC4F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5180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AC2A4-AFB5-3117-ABCE-09C736EEC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E6659-8E3B-07EF-163E-9CF91352B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A6589-3BB5-43C5-0333-AC4B32E24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02086-79FE-F713-049C-BE08C2DC8F0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1673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86B0-8790-04C6-8C1F-2358C093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EF9CC-37E1-1E8A-0CDA-6883354CC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26B513-3A38-1E21-720E-375EB6319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190A0-164D-41CF-1147-C097C3BF279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6379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350D5-8D97-C17F-26C4-32F529CF5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CF275-18ED-CD24-C2CA-E8ACE8726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E1831-730E-BE6B-6A01-6060A0B3F6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AE55B2D-C186-45DF-8FB6-6E4740B70083}" type="datetimeFigureOut">
              <a:t>8/3/2026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ED661-F9DC-DE61-F6C6-70BAF2409D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49321-F01F-DADF-320E-B1BB13BB33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EFFF87A-CC8E-45FA-B3ED-FB4B2B0132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608F-8285-21ED-062A-B12FAFE45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33F36-16FC-37DF-5E98-90D7AAAC3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AE78-835E-CB97-EEF7-09DAA6C0B94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AE55B2D-C186-45DF-8FB6-6E4740B70083}" type="datetimeFigureOut">
              <a:t>8/3/2026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60859-6E34-FD38-BB60-22EC9E1E21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522A3-7052-0FEA-E201-112F4AF21C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EFFF87A-CC8E-45FA-B3ED-FB4B2B0132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D3767-977F-2D9B-375A-372CA39A9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4BE07-E089-2E30-046F-F8885CA53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A2B07-DE88-76C6-7A92-9008DD63CB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AE55B2D-C186-45DF-8FB6-6E4740B70083}" type="datetimeFigureOut">
              <a:t>8/3/2026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E1183-727A-BAA6-23A6-81921669AAB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1AD14-97DE-10E9-8027-7BD0818441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EFFF87A-CC8E-45FA-B3ED-FB4B2B0132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1E948-0B45-B2B6-692F-F5FD83EB1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83D38-FAE4-9390-A98F-736A12B7A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9A12A7-C744-CF04-08C9-DE31694DC7C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73EBDA-7E71-98D4-6E15-0AE684A3F4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AE55B2D-C186-45DF-8FB6-6E4740B70083}" type="datetimeFigureOut">
              <a:t>8/3/2026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ACED2-DD53-17F0-4548-836D30F006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5DE2F-B93E-0C35-C0AE-601E43A61B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EFFF87A-CC8E-45FA-B3ED-FB4B2B0132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5F294-1C54-1DFA-8A4F-2BE1C7F30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A3C5D-A00F-DE20-F830-CAFD77A1C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B4A86-F317-7196-1CAE-E33575230D9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CDEC42-C8D2-9F9C-2019-69BDEDC4036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28E4FF-70D4-E64F-158D-42297896B6B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78ABC2-F791-80AF-B8CA-E93DB32BBD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AE55B2D-C186-45DF-8FB6-6E4740B70083}" type="datetimeFigureOut">
              <a:t>8/3/2026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160C73-68FF-10BA-FF88-CC6E7BFA5F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4866C1-3017-9407-D1B7-F4F1A7B712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EFFF87A-CC8E-45FA-B3ED-FB4B2B0132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CD9D0-D484-8233-A8C6-39C684E4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0DC51C-8E12-D20E-85D1-7BDBDBC527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AE55B2D-C186-45DF-8FB6-6E4740B70083}" type="datetimeFigureOut">
              <a:t>8/3/2026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B7476E-2931-987D-2119-497F3DF1153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ACF7C-22DA-B6D5-F25A-D3787E58FF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EFFF87A-CC8E-45FA-B3ED-FB4B2B0132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065C2-51F7-1E32-9B97-0142CA63B7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AE55B2D-C186-45DF-8FB6-6E4740B70083}" type="datetimeFigureOut">
              <a:t>8/3/2026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8DA20A-BC18-7E28-D879-D8616B481C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38CC0-FE9D-4512-91D7-6ABAD99E3E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EFFF87A-CC8E-45FA-B3ED-FB4B2B0132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498A-F3B6-0535-CEC2-CA9726998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DE221-2895-AA33-01AA-B5C417097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EA67C-E3C1-66D6-1405-39EFBB71AC8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C9523-2F18-2310-2E04-81F03516B0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AE55B2D-C186-45DF-8FB6-6E4740B70083}" type="datetimeFigureOut">
              <a:t>8/3/2026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A6CC4-D83C-6508-10F9-89BD8615E3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F3A00-3401-7E25-054B-61F2BA0466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EFFF87A-CC8E-45FA-B3ED-FB4B2B0132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B7134-6188-5859-622E-A5B2D0AAC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2A03E6-9E3E-BFA4-180D-099349E79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726D96-C49C-9C4A-4BB4-2F13059FF25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EBED1-E463-11C7-19AD-35916E20E7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AE55B2D-C186-45DF-8FB6-6E4740B70083}" type="datetimeFigureOut">
              <a:t>8/3/2026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F085C-E092-DC9A-E654-0D452B0FB8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F9E6E-0333-54B4-8ED9-938DE01FBB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EFFF87A-CC8E-45FA-B3ED-FB4B2B0132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72441-1003-29AE-2BEF-C97BBC8BA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24521-4E39-AE3D-88BD-405CC2FEA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6BDF3-DDB1-8A61-C74A-2AD38626CE5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AE55B2D-C186-45DF-8FB6-6E4740B70083}" type="datetimeFigureOut">
              <a:t>8/3/2026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08E75-C9BB-BFCC-DB0A-A0D182EC0A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82F62-135B-5B16-8CA9-44DF570B24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EFFF87A-CC8E-45FA-B3ED-FB4B2B0132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B1DBC-29CE-2471-B5D5-D7207EA2C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EAB83-AF18-54F9-CE83-455E1991D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880B1-D004-782C-9433-AB0D104B0E0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AE55B2D-C186-45DF-8FB6-6E4740B70083}" type="datetimeFigureOut">
              <a:t>8/3/2026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9F33E-CDBB-BD88-E495-39721BE64C0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859D4-9AF6-0040-152B-B642FF4529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EFFF87A-CC8E-45FA-B3ED-FB4B2B0132A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84550D-471A-923D-0720-EAE0B9D3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AE7C3-AF4B-1781-267A-CA26F04A5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FAE5F-C6FC-6766-9558-BBD0D9861FA2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E55B2D-C186-45DF-8FB6-6E4740B70083}" type="datetimeFigureOut">
              <a:t>8/3/2026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87E40-F5EA-6D76-60FF-C17A9A525E7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4C564-EE56-E7BF-8119-79617B9C00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FF87A-CC8E-45FA-B3ED-FB4B2B0132A1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@DanTheFinalArbiter?sub_confirmation=1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DanTheFinalArbiter?sub_confirmation=1" TargetMode="External"/><Relationship Id="rId4" Type="http://schemas.openxmlformats.org/officeDocument/2006/relationships/hyperlink" Target="https://www.hyperborea.tv/resources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@DanTheFinalArbiter?sub_confirmation=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@DanTheFinalArbiter?sub_confirmation=1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DanTheFinalArbiter?sub_confirmation=1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DanTheFinalArbiter?sub_confirmation=1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DanTheFinalArbiter?sub_confirmation=1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DanTheFinalArbiter?sub_confirmation=1" TargetMode="Externa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DanTheFinalArbiter?sub_confirmation=1" TargetMode="Externa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DanTheFinalArbiter?sub_confirmation=1" TargetMode="Externa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DanTheFinalArbiter?sub_confirmation=1" TargetMode="Externa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@DanTheFinalArbiter?sub_confirmation=1" TargetMode="Externa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@DanTheFinalArbiter?sub_confirmation=1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@DanTheFinalArbiter?sub_confirmation=1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@DanTheFinalArbiter?sub_confirmation=1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@DanTheFinalArbiter?sub_confirmation=1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DanTheFinalArbiter?sub_confirmation=1" TargetMode="Externa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DanTheFinalArbiter?sub_confirmation=1" TargetMode="Externa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DanTheFinalArbiter?sub_confirmation=1" TargetMode="Externa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DanTheFinalArbiter?sub_confirmation=1" TargetMode="Externa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DanTheFinalArbiter?sub_confirmation=1" TargetMode="Externa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DanTheFinalArbiter?sub_confirmation=1" TargetMode="Externa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@DanTheFinalArbiter?sub_confirmation=1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@DanTheFinalArbiter?sub_confirmation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3AF1BC-4B04-0CCF-413D-ED9DCD266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450" y="1200150"/>
            <a:ext cx="9563100" cy="44577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  <p:txBody>
          <a:bodyPr lIns="419100" tIns="323850" rIns="419100" bIns="285750" anchor="ctr">
            <a:normAutofit/>
          </a:bodyPr>
          <a:lstStyle/>
          <a:p>
            <a:pPr algn="ctr">
              <a:spcAft>
                <a:spcPts val="6"/>
              </a:spcAft>
              <a:buNone/>
            </a:pPr>
            <a:r>
              <a:rPr sz="495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Hyperborea 3e</a:t>
            </a:r>
          </a:p>
          <a:p>
            <a:pPr algn="ctr">
              <a:spcAft>
                <a:spcPts val="6"/>
              </a:spcAft>
              <a:buNone/>
            </a:pPr>
            <a:r>
              <a:rPr sz="495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Character Creation</a:t>
            </a:r>
          </a:p>
          <a:p>
            <a:pPr>
              <a:buNone/>
            </a:pPr>
            <a:endParaRPr sz="4950" b="1" dirty="0">
              <a:solidFill>
                <a:srgbClr val="F1F5F7"/>
              </a:solidFill>
              <a:latin typeface="Georgia"/>
              <a:ea typeface="Georgia"/>
              <a:cs typeface="Georgia"/>
            </a:endParaRPr>
          </a:p>
          <a:p>
            <a:pPr algn="ctr">
              <a:spcAft>
                <a:spcPts val="6"/>
              </a:spcAft>
              <a:buNone/>
            </a:pPr>
            <a:r>
              <a:rPr lang="en-US" sz="1950" i="1" dirty="0">
                <a:solidFill>
                  <a:srgbClr val="C7D2D9"/>
                </a:solidFill>
                <a:latin typeface="Georgia"/>
                <a:ea typeface="Georgia"/>
                <a:cs typeface="Georgia"/>
              </a:rPr>
              <a:t>How to roll up character so you can play THE BEST GAME</a:t>
            </a:r>
            <a:endParaRPr sz="1950" i="1" dirty="0">
              <a:solidFill>
                <a:srgbClr val="C7D2D9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A8E391-E63D-6899-57F4-25E4A1A75A9A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3FE6B6-6FFC-B252-A018-13B3ADCD8DAA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2455BF-C5B2-D139-A2E9-0FD19C57B42D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6097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6380F-515F-0F19-CE91-EA7B8654E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117356-C87D-74E8-4E3E-2129526624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2F88B9-D987-1D24-7B23-4FF4C5164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1127760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Character Creation in Hyperborea 3e</a:t>
            </a:r>
            <a:endParaRPr sz="36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1F5F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/>
              <a:ea typeface="Georgia"/>
              <a:cs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54CED-D8F3-E186-21E2-9A6CFFFBE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00150"/>
            <a:ext cx="10820400" cy="49530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Step 0:	Supplies</a:t>
            </a:r>
            <a:r>
              <a:rPr lang="en-US" sz="20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– Hyperborea 3e books or PDFs, paper and pencil, dice, optionally a character 	sheet from </a:t>
            </a:r>
            <a:r>
              <a:rPr lang="en-US" sz="2000" dirty="0">
                <a:ln w="0">
                  <a:noFill/>
                </a:ln>
                <a:solidFill>
                  <a:srgbClr val="67C4E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https://www.hyperborea.tv/resources.html</a:t>
            </a:r>
            <a:endParaRPr lang="en-US" sz="2000" dirty="0">
              <a:ln w="0">
                <a:noFill/>
              </a:ln>
              <a:solidFill>
                <a:srgbClr val="67C4E5"/>
              </a:solidFill>
            </a:endParaRPr>
          </a:p>
          <a:p>
            <a:pPr marL="0" indent="0">
              <a:buNone/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Step 1:	Generate Attributes – </a:t>
            </a:r>
            <a:r>
              <a:rPr lang="en-US" sz="20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Choose one of the six methods available in the Player’s Manual</a:t>
            </a:r>
            <a:endParaRPr lang="en-US" sz="2000" b="1" dirty="0">
              <a:ln w="31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Step 2:	Choose a Class – </a:t>
            </a:r>
            <a:r>
              <a:rPr lang="en-US" sz="20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Select a character class that for which the generated attributes qualify</a:t>
            </a:r>
            <a:endParaRPr lang="en-US" sz="2000" b="1" dirty="0">
              <a:ln w="31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Step 3:	Develop a Background – </a:t>
            </a:r>
            <a:r>
              <a:rPr lang="en-US" sz="20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Choose or roll the various character background options</a:t>
            </a:r>
            <a:endParaRPr lang="en-US" sz="2000" b="1" dirty="0">
              <a:ln w="31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Step 4:	Purchase Equipment – </a:t>
            </a:r>
            <a:r>
              <a:rPr lang="en-US" sz="20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Roll for starting gold and purchase equipment, or utilize the starting 	kit for the selected class</a:t>
            </a:r>
            <a:endParaRPr lang="en-US" sz="2000" b="1" dirty="0">
              <a:ln w="31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Step 5:	Determine Starting Spells – </a:t>
            </a:r>
            <a:r>
              <a:rPr lang="en-US" sz="20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For sorcerous classes, randomly determine or select starting 	spells for the character</a:t>
            </a:r>
            <a:endParaRPr lang="en-US" sz="2000" b="1" dirty="0">
              <a:ln w="31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Step 6:	Record Other Statistics – </a:t>
            </a:r>
            <a:r>
              <a:rPr lang="en-US" sz="20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Based on attributes and equipment, record saving throw values, 	</a:t>
            </a:r>
            <a:r>
              <a:rPr lang="en-US" sz="2000" dirty="0" err="1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armour</a:t>
            </a:r>
            <a:r>
              <a:rPr lang="en-US" sz="20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class, hit dice, hit points, movement, Fighting/Casting/Turning Ability</a:t>
            </a:r>
            <a:endParaRPr lang="en-US" sz="2000" b="1" dirty="0">
              <a:ln w="31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b="1" dirty="0">
              <a:ln w="31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400" i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Character creation steps can be found on page 11 and 12 of the Player’s Manual</a:t>
            </a:r>
            <a:endParaRPr sz="2400" i="1" dirty="0">
              <a:ln w="31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EC291C-F0B5-F1E9-A858-28A214D8330A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816A74-3D6A-0111-59B2-1FDC0D543CDD}"/>
              </a:ext>
            </a:extLst>
          </p:cNvPr>
          <p:cNvSpPr txBox="1"/>
          <p:nvPr/>
        </p:nvSpPr>
        <p:spPr>
          <a:xfrm>
            <a:off x="9126855" y="6490397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174370-CF37-B5CC-12CB-32A983805903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62415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A7A0C-C7DC-8298-68CF-196E561FB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A8DAB67A-FDE9-833D-E0EC-F6339DE97E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7CAF90-6B3B-0E4C-6915-E1ECA62B9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450" y="1200150"/>
            <a:ext cx="9563100" cy="44577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  <p:txBody>
          <a:bodyPr lIns="419100" tIns="323850" rIns="419100" bIns="285750" anchor="ctr">
            <a:normAutofit/>
          </a:bodyPr>
          <a:lstStyle/>
          <a:p>
            <a:pPr algn="ctr">
              <a:spcAft>
                <a:spcPts val="6"/>
              </a:spcAft>
              <a:buNone/>
            </a:pPr>
            <a:r>
              <a:rPr sz="495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Step </a:t>
            </a:r>
            <a:r>
              <a:rPr lang="en-US" sz="495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1 + Step 2</a:t>
            </a:r>
            <a:endParaRPr sz="495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1F5F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/>
              <a:ea typeface="Georgia"/>
              <a:cs typeface="Georgia"/>
            </a:endParaRPr>
          </a:p>
          <a:p>
            <a:pPr algn="ctr">
              <a:spcAft>
                <a:spcPts val="6"/>
              </a:spcAft>
              <a:buNone/>
            </a:pPr>
            <a:r>
              <a:rPr lang="en-US" sz="495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Generate Attributes</a:t>
            </a:r>
            <a:br>
              <a:rPr lang="en-US" sz="495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</a:br>
            <a:r>
              <a:rPr lang="en-US" sz="495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Choose a Class</a:t>
            </a:r>
          </a:p>
          <a:p>
            <a:pPr>
              <a:buNone/>
            </a:pPr>
            <a:endParaRPr lang="en-US" sz="4950" b="1" dirty="0">
              <a:solidFill>
                <a:srgbClr val="F1F5F7"/>
              </a:solidFill>
              <a:latin typeface="Georgia"/>
              <a:ea typeface="Georgia"/>
              <a:cs typeface="Georgia"/>
            </a:endParaRPr>
          </a:p>
          <a:p>
            <a:pPr algn="ctr">
              <a:spcAft>
                <a:spcPts val="6"/>
              </a:spcAft>
              <a:buNone/>
            </a:pPr>
            <a:r>
              <a:rPr lang="en-US" sz="1950" i="1" dirty="0">
                <a:solidFill>
                  <a:srgbClr val="C7D2D9"/>
                </a:solidFill>
                <a:latin typeface="Georgia"/>
                <a:ea typeface="Georgia"/>
                <a:cs typeface="Georgia"/>
              </a:rPr>
              <a:t>I was a math major, so there are charts!</a:t>
            </a:r>
            <a:br>
              <a:rPr lang="en-US" sz="1950" i="1" dirty="0">
                <a:solidFill>
                  <a:srgbClr val="C7D2D9"/>
                </a:solidFill>
                <a:latin typeface="Georgia"/>
                <a:ea typeface="Georgia"/>
                <a:cs typeface="Georgia"/>
              </a:rPr>
            </a:br>
            <a:r>
              <a:rPr lang="en-US" sz="1950" i="1" dirty="0">
                <a:solidFill>
                  <a:srgbClr val="C7D2D9"/>
                </a:solidFill>
                <a:latin typeface="Georgia"/>
                <a:ea typeface="Georgia"/>
                <a:cs typeface="Georgia"/>
              </a:rPr>
              <a:t>And my real job is management consulting, so yes, this is </a:t>
            </a:r>
            <a:r>
              <a:rPr lang="en-US" sz="1950" i="1" dirty="0" err="1">
                <a:solidFill>
                  <a:srgbClr val="C7D2D9"/>
                </a:solidFill>
                <a:latin typeface="Georgia"/>
                <a:ea typeface="Georgia"/>
                <a:cs typeface="Georgia"/>
              </a:rPr>
              <a:t>powerpoint</a:t>
            </a:r>
            <a:r>
              <a:rPr lang="en-US" sz="1950" i="1" dirty="0">
                <a:solidFill>
                  <a:srgbClr val="C7D2D9"/>
                </a:solidFill>
                <a:latin typeface="Georgia"/>
                <a:ea typeface="Georgia"/>
                <a:cs typeface="Georgia"/>
              </a:rPr>
              <a:t>.</a:t>
            </a:r>
            <a:endParaRPr sz="1950" i="1" dirty="0">
              <a:solidFill>
                <a:srgbClr val="C7D2D9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4FC26D-AE59-47CD-7CEC-F455D7AF722B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4CCE65-AC1C-351D-501D-86617BB2F0F2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E6ADDD-3853-B787-CDFB-C7395F7FA810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6791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7DA051-47D6-E5C1-271A-AB760F5D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1127760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Step 1: Generate Attributes</a:t>
            </a:r>
            <a:endParaRPr sz="36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1F5F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/>
              <a:ea typeface="Georgia"/>
              <a:cs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4E946-21DB-E256-71AA-2B6C9D269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00150"/>
            <a:ext cx="10820400" cy="49530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Autofit/>
          </a:bodyPr>
          <a:lstStyle/>
          <a:p>
            <a:pPr marL="0" indent="0">
              <a:buNone/>
            </a:pPr>
            <a:r>
              <a:rPr sz="18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METHOD I: 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Roll 3d6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 order 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for each attribute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: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trength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(ST)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,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exterity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(DX)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,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onstitution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(CN)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,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ntelligence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(IN)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,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W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isdom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(WS)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, and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harisma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(CH).</a:t>
            </a:r>
            <a:endParaRPr sz="1800" dirty="0">
              <a:ln w="31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sz="18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METHOD II: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Roll 3d6 in order for each attribute: Strength (ST), Dexterity (DX), Constitution (CN), Intelligence (IN), Wisdom (WS), and Charisma (CH).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Repeat twice, generating three total arrays.  Choose one set from the three arrays as your character.</a:t>
            </a:r>
            <a:endParaRPr sz="1800" dirty="0">
              <a:ln w="31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sz="18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METHOD III: 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Roll 4d6 and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ignore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the lowest die roll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, repeating this process six times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Assign the six scores to the attributes as desired.</a:t>
            </a:r>
            <a:endParaRPr sz="1800" dirty="0">
              <a:ln w="31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sz="18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METHOD IV: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Roll 3d6 three separate times for each attribute, in the order of the attributes: Strength (ST), Dexterity (DX), Constitution (CN), Intelligence (IN), Wisdom (WS), and Charisma (CH).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The best result for each individual attribute is the score for that attribute.</a:t>
            </a:r>
            <a:endParaRPr sz="1800" dirty="0">
              <a:ln w="31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sz="18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METHOD V: 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Roll 2d6+6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 order for each attribute: Strength (ST), Dexterity (DX), Constitution (CN), Intelligence (IN), Wisdom (WS), and Charisma (CH). </a:t>
            </a:r>
          </a:p>
          <a:p>
            <a:pPr marL="0" indent="0">
              <a:buNone/>
            </a:pPr>
            <a:r>
              <a:rPr sz="1800" b="1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METHOD VI: 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Choose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character class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  <a:r>
              <a:rPr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en-US" sz="1800" dirty="0">
                <a:ln w="3175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For each attribute that has a minimum requirement, roll 4d6, dropping the lowest die.  Repeat until the minimum score is attained.  For attributes that do not have a minimum, roll 3d6.</a:t>
            </a:r>
            <a:endParaRPr sz="1800" dirty="0">
              <a:ln w="3175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FC8CA5-64AB-471F-EF18-0E616BD79837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02A6B4-7FAA-26D7-4834-54AF178D4A9C}"/>
              </a:ext>
            </a:extLst>
          </p:cNvPr>
          <p:cNvSpPr txBox="1"/>
          <p:nvPr/>
        </p:nvSpPr>
        <p:spPr>
          <a:xfrm>
            <a:off x="9126855" y="6490397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E63BE-1A58-8BE7-E510-350EA16F8832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47560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983B5C-A194-EF1D-56DD-3651798E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1127760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A long time ago, in a high school far, far away…</a:t>
            </a:r>
            <a:endParaRPr sz="36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1F5F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/>
              <a:ea typeface="Georgia"/>
              <a:cs typeface="Georgia"/>
            </a:endParaRPr>
          </a:p>
        </p:txBody>
      </p:sp>
      <p:sp>
        <p:nvSpPr>
          <p:cNvPr id="6" name="Probability interpretation">
            <a:extLst>
              <a:ext uri="{FF2B5EF4-FFF2-40B4-BE49-F238E27FC236}">
                <a16:creationId xmlns:a16="http://schemas.microsoft.com/office/drawing/2014/main" id="{79F293FD-4B3F-47B6-BA7E-91F86F42BF8C}"/>
              </a:ext>
            </a:extLst>
          </p:cNvPr>
          <p:cNvSpPr>
            <a:spLocks noGrp="1"/>
          </p:cNvSpPr>
          <p:nvPr/>
        </p:nvSpPr>
        <p:spPr>
          <a:xfrm>
            <a:off x="7239000" y="1219200"/>
            <a:ext cx="4191000" cy="4762500"/>
          </a:xfrm>
          <a:prstGeom prst="roundRect">
            <a:avLst>
              <a:gd name="adj" fmla="val 2727"/>
            </a:avLst>
          </a:prstGeom>
          <a:solidFill>
            <a:srgbClr val="0E161C"/>
          </a:solidFill>
          <a:ln w="19050">
            <a:solidFill>
              <a:srgbClr val="67C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91440" tIns="91440" rIns="91440" bIns="0">
            <a:normAutofit/>
          </a:bodyPr>
          <a:lstStyle/>
          <a:p>
            <a:pPr>
              <a:spcAft>
                <a:spcPts val="6"/>
              </a:spcAft>
              <a:buNone/>
              <a:defRPr sz="1575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Method I </a:t>
            </a:r>
            <a:r>
              <a:rPr lang="en-US" sz="1575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has the highest risk of low scores.</a:t>
            </a:r>
            <a:endParaRPr sz="1575" b="1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6"/>
              </a:spcAft>
              <a:buNone/>
              <a:defRPr sz="1575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575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This allows the character to emerge from the oldest generation method, but will make many classes far more rare</a:t>
            </a:r>
            <a:r>
              <a:rPr sz="1575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buNone/>
            </a:pPr>
            <a:endParaRPr sz="1575" b="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6"/>
              </a:spcAft>
              <a:buNone/>
              <a:defRPr sz="1575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Methods III, IV, and V </a:t>
            </a:r>
            <a:r>
              <a:rPr lang="en-US" sz="1575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have higher averages</a:t>
            </a:r>
            <a:endParaRPr sz="1575" b="1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6"/>
              </a:spcAft>
              <a:buNone/>
              <a:defRPr sz="1575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575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All three have a noticeably higher (13 vs 10.5) expected average value, as well as a tighter distribution</a:t>
            </a:r>
            <a:r>
              <a:rPr sz="1575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buNone/>
            </a:pPr>
            <a:endParaRPr sz="1575" b="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6"/>
              </a:spcAft>
              <a:buNone/>
              <a:defRPr sz="1575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Method VI </a:t>
            </a:r>
            <a:r>
              <a:rPr lang="en-US" sz="1575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allows a class selection and the stats to support it</a:t>
            </a:r>
            <a:r>
              <a:rPr sz="1575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>
              <a:spcAft>
                <a:spcPts val="6"/>
              </a:spcAft>
              <a:buNone/>
              <a:defRPr sz="1575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575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You’ll be good enough to meet the requirements of a given class, but are unlikely to be a powerhouse</a:t>
            </a:r>
            <a:r>
              <a:rPr sz="1575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.</a:t>
            </a:r>
            <a:r>
              <a:rPr lang="en-US" sz="1575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 A good choice for Barbarians, Bards, and Paladins, though.</a:t>
            </a:r>
            <a:endParaRPr lang="en-US" sz="1575" b="0" i="1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6"/>
              </a:spcAft>
              <a:buNone/>
              <a:defRPr sz="1575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endParaRPr lang="en-US" sz="1575" b="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r">
              <a:spcAft>
                <a:spcPts val="6"/>
              </a:spcAft>
              <a:buNone/>
              <a:defRPr sz="1575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575" b="0" i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Charts generated using Anydice.com</a:t>
            </a:r>
            <a:endParaRPr sz="1575" b="0" i="1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27DC6E-A691-ABA6-2973-C4BD451346F3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C12460-5331-412D-AAFC-6FF16DD0CDE6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ED786-31BC-D3AF-D610-21106EE17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02" y="3799840"/>
            <a:ext cx="6194523" cy="22859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714C1E-D48E-415C-8766-CEEED0675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02" y="1219200"/>
            <a:ext cx="6194523" cy="23189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D52AE1-F337-EC90-35D0-6C29BDF0BD56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96194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6668" y="0"/>
            <a:ext cx="425490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CD93F9-2E6F-7DD7-BC71-4F7B8E8C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59536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METHOD I  ·  </a:t>
            </a: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The OG Method</a:t>
            </a:r>
            <a:endParaRPr sz="36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1F5F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/>
              <a:ea typeface="Georgia"/>
              <a:cs typeface="Georg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8CCC6F-5154-AD34-F820-767B60B42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3822192" cy="49911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rmAutofit/>
          </a:bodyPr>
          <a:lstStyle/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THE ROLL</a:t>
            </a: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S</a:t>
            </a:r>
            <a:endParaRPr sz="1600" b="1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3d6 down the line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ST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10   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DX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8   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CN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8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IN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7     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WS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12  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CH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10</a:t>
            </a:r>
          </a:p>
          <a:p>
            <a:pPr>
              <a:buNone/>
            </a:pPr>
            <a:endParaRPr sz="1600" b="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QUALIFYING CLASSES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Fighter · Cleric · Priest · Runegraver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073A0DF-4EFC-3008-ED9F-06F61A9A0D5D}"/>
              </a:ext>
            </a:extLst>
          </p:cNvPr>
          <p:cNvSpPr>
            <a:spLocks noGrp="1"/>
          </p:cNvSpPr>
          <p:nvPr/>
        </p:nvSpPr>
        <p:spPr>
          <a:xfrm>
            <a:off x="4416552" y="1219200"/>
            <a:ext cx="4000500" cy="4991100"/>
          </a:xfrm>
          <a:prstGeom prst="rect">
            <a:avLst/>
          </a:prstGeom>
          <a:solidFill>
            <a:srgbClr val="0E161C"/>
          </a:solidFill>
          <a:ln w="19050">
            <a:solidFill>
              <a:srgbClr val="67C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vert="horz" lIns="228600" tIns="190500" rIns="228600" bIns="17145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CLASS</a:t>
            </a: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CHOICE</a:t>
            </a: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&amp; REASON</a:t>
            </a:r>
            <a:endParaRPr sz="1600" b="1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Priest</a:t>
            </a: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–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Ecclesiastical sorcerer; more spells than any other </a:t>
            </a:r>
            <a:r>
              <a:rPr lang="en-US" sz="1600" dirty="0" err="1">
                <a:solidFill>
                  <a:srgbClr val="C7D2D9"/>
                </a:solidFill>
                <a:latin typeface="Aptos"/>
                <a:ea typeface="Aptos"/>
                <a:cs typeface="Aptos"/>
              </a:rPr>
              <a:t>sorcererous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class, weak in physical combat.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endParaRPr sz="1600" b="1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ADJUSTED ATTRIBUTES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ST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4 (−6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)	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DX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9 (+1)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CN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9 (+1)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  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IN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7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WS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13 (+1)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  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CH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10</a:t>
            </a:r>
          </a:p>
          <a:p>
            <a:pPr>
              <a:buNone/>
            </a:pPr>
            <a:endParaRPr sz="1600" b="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WHY ADJUST?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Remove AC and hit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po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int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penalties from 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DX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and CON.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Gain one additional 1st-level cleric spell per day from WIS.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38734D-6877-21B5-391A-8FD80CD8E7C3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E71339-6CA8-75AC-2D9C-C055A0151721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CFD2F-4ADB-BBAD-092E-A3CD11E89D9D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7387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097" y="0"/>
            <a:ext cx="425490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CD93F9-2E6F-7DD7-BC71-4F7B8E8C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59536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METHOD II  ·  </a:t>
            </a: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The OG x3</a:t>
            </a:r>
            <a:endParaRPr sz="36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1F5F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/>
              <a:ea typeface="Georgia"/>
              <a:cs typeface="Georg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8CCC6F-5154-AD34-F820-767B60B42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3822192" cy="49911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Autofit/>
          </a:bodyPr>
          <a:lstStyle/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THREE ARRAYS — PICK ONE COLUMN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ST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12      10      </a:t>
            </a:r>
            <a:r>
              <a:rPr sz="1600" b="1" dirty="0">
                <a:solidFill>
                  <a:srgbClr val="C7D2D9"/>
                </a:solidFill>
                <a:effectLst>
                  <a:glow rad="1270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16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DX	  9      13       </a:t>
            </a:r>
            <a:r>
              <a:rPr sz="1600" b="1" dirty="0">
                <a:solidFill>
                  <a:srgbClr val="C7D2D9"/>
                </a:solidFill>
                <a:effectLst>
                  <a:glow rad="1270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11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CN	13      10      </a:t>
            </a:r>
            <a:r>
              <a:rPr sz="1600" b="1" dirty="0">
                <a:solidFill>
                  <a:srgbClr val="C7D2D9"/>
                </a:solidFill>
                <a:effectLst>
                  <a:glow rad="1270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10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IN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	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13      14      </a:t>
            </a:r>
            <a:r>
              <a:rPr sz="1600" b="1" dirty="0">
                <a:solidFill>
                  <a:srgbClr val="C7D2D9"/>
                </a:solidFill>
                <a:effectLst>
                  <a:glow rad="1270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12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WS	12      10      </a:t>
            </a:r>
            <a:r>
              <a:rPr sz="1600" b="1" dirty="0">
                <a:solidFill>
                  <a:srgbClr val="C7D2D9"/>
                </a:solidFill>
                <a:effectLst>
                  <a:glow rad="1270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12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CH	11      11        </a:t>
            </a:r>
            <a:r>
              <a:rPr sz="1600" b="1" dirty="0">
                <a:solidFill>
                  <a:srgbClr val="C7D2D9"/>
                </a:solidFill>
                <a:effectLst>
                  <a:glow rad="1270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  <a:ea typeface="Aptos"/>
                <a:cs typeface="Aptos"/>
              </a:rPr>
              <a:t>8</a:t>
            </a:r>
          </a:p>
          <a:p>
            <a:pPr>
              <a:buNone/>
            </a:pPr>
            <a:endParaRPr sz="1600" b="1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QUALIFYING CLASSES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Fighter · Thief · Cleric · Magician · Ranger · Warlock · </a:t>
            </a:r>
            <a:r>
              <a:rPr sz="1600" b="0" dirty="0" err="1">
                <a:solidFill>
                  <a:srgbClr val="C7D2D9"/>
                </a:solidFill>
                <a:latin typeface="Aptos"/>
                <a:ea typeface="Aptos"/>
                <a:cs typeface="Aptos"/>
              </a:rPr>
              <a:t>Cryomancer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· Illusionist · Necromancer · Pyromancer · Monk · Runegraver · Shaman · Assassin · Scout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073A0DF-4EFC-3008-ED9F-06F61A9A0D5D}"/>
              </a:ext>
            </a:extLst>
          </p:cNvPr>
          <p:cNvSpPr>
            <a:spLocks noGrp="1"/>
          </p:cNvSpPr>
          <p:nvPr/>
        </p:nvSpPr>
        <p:spPr>
          <a:xfrm>
            <a:off x="4416552" y="1219200"/>
            <a:ext cx="4000500" cy="4991100"/>
          </a:xfrm>
          <a:prstGeom prst="rect">
            <a:avLst/>
          </a:prstGeom>
          <a:solidFill>
            <a:srgbClr val="0E161C"/>
          </a:solidFill>
          <a:ln w="19050">
            <a:solidFill>
              <a:srgbClr val="67C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vert="horz" lIns="228600" tIns="190500" rIns="228600" bIns="17145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CLASS</a:t>
            </a: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CHOICE</a:t>
            </a: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&amp; REASON</a:t>
            </a:r>
            <a:endParaRPr sz="1600" b="1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Runegraver</a:t>
            </a: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– 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The Runegraver best benefits from high Strength and Wisdom scores.  Warlock was also a consideration.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endParaRPr sz="1600" b="1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ADJUSTED ATTRIBUTES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ST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6	    	DX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11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CN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10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    	IN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6 (−6)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WS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16 (+4)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  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CH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6 (−2)</a:t>
            </a:r>
          </a:p>
          <a:p>
            <a:pPr>
              <a:buNone/>
            </a:pPr>
            <a:endParaRPr sz="1600" b="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WHY THIS ARRAY?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ST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and 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WS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at 16+ secure the +10% XP bonus.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A68965-DF25-DDD0-880E-729B7114A38B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C61B76-FB0A-8F20-4590-E36A394E9B81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0FA7BC-63A7-C423-8406-B0E5E86D4011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7387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6622" y="0"/>
            <a:ext cx="476537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F8E131-8A59-35EE-5069-8FF6923A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031480" cy="781050"/>
          </a:xfrm>
        </p:spPr>
        <p:txBody>
          <a:bodyPr lIns="0" tIns="0" rIns="0" bIns="0" anchor="ctr">
            <a:normAutofit fontScale="90000"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METHOD III  ·  </a:t>
            </a: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The Modern Standard</a:t>
            </a:r>
            <a:endParaRPr sz="36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1F5F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/>
              <a:ea typeface="Georgia"/>
              <a:cs typeface="Georg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85D37F-E578-B310-E1D4-24B4179C7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3822192" cy="49911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rmAutofit fontScale="97522"/>
          </a:bodyPr>
          <a:lstStyle/>
          <a:p>
            <a:pPr>
              <a:buNone/>
            </a:pPr>
            <a:r>
              <a:rPr sz="1600" b="1" dirty="0">
                <a:solidFill>
                  <a:srgbClr val="E8E8E8"/>
                </a:solidFill>
                <a:latin typeface="+mn-lt"/>
              </a:rPr>
              <a:t>THE ROLL</a:t>
            </a:r>
            <a:r>
              <a:rPr lang="en-US" sz="1600" b="1" dirty="0">
                <a:solidFill>
                  <a:srgbClr val="E8E8E8"/>
                </a:solidFill>
                <a:latin typeface="+mn-lt"/>
              </a:rPr>
              <a:t>S</a:t>
            </a:r>
            <a:endParaRPr sz="1600" b="1" dirty="0">
              <a:solidFill>
                <a:srgbClr val="E8E8E8"/>
              </a:solidFill>
              <a:latin typeface="+mn-lt"/>
            </a:endParaRP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  <a:latin typeface="+mn-lt"/>
              </a:rPr>
              <a:t>4d6, drop the lowest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  <a:latin typeface="+mn-lt"/>
              </a:rPr>
              <a:t>Assign the six results as desired.</a:t>
            </a:r>
          </a:p>
          <a:p>
            <a:pPr>
              <a:buNone/>
            </a:pPr>
            <a:endParaRPr sz="1600" dirty="0">
              <a:solidFill>
                <a:srgbClr val="E8E8E8"/>
              </a:solidFill>
              <a:latin typeface="+mn-lt"/>
            </a:endParaRP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  <a:latin typeface="+mn-lt"/>
              </a:rPr>
              <a:t>17  -  13  -  12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  <a:latin typeface="+mn-lt"/>
              </a:rPr>
              <a:t>12  -  13  -  13</a:t>
            </a:r>
          </a:p>
          <a:p>
            <a:pPr>
              <a:buNone/>
            </a:pPr>
            <a:endParaRPr sz="1600" dirty="0">
              <a:solidFill>
                <a:srgbClr val="E8E8E8"/>
              </a:solidFill>
              <a:latin typeface="+mn-lt"/>
            </a:endParaRPr>
          </a:p>
          <a:p>
            <a:pPr>
              <a:buNone/>
            </a:pPr>
            <a:r>
              <a:rPr sz="1600" b="1" dirty="0">
                <a:solidFill>
                  <a:srgbClr val="E8E8E8"/>
                </a:solidFill>
                <a:latin typeface="+mn-lt"/>
              </a:rPr>
              <a:t>QUALIFYING CLASSES</a:t>
            </a:r>
          </a:p>
          <a:p>
            <a:pPr>
              <a:buNone/>
            </a:pPr>
            <a:r>
              <a:rPr lang="en-US" sz="1600" dirty="0">
                <a:solidFill>
                  <a:srgbClr val="E8E8E8"/>
                </a:solidFill>
                <a:latin typeface="+mn-lt"/>
              </a:rPr>
              <a:t>	</a:t>
            </a:r>
            <a:r>
              <a:rPr sz="1600" dirty="0">
                <a:solidFill>
                  <a:srgbClr val="E8E8E8"/>
                </a:solidFill>
                <a:latin typeface="+mn-lt"/>
              </a:rPr>
              <a:t>Every class except Berserker.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4912A0-5DF8-4213-1560-1EB03689937D}"/>
              </a:ext>
            </a:extLst>
          </p:cNvPr>
          <p:cNvSpPr>
            <a:spLocks noGrp="1"/>
          </p:cNvSpPr>
          <p:nvPr/>
        </p:nvSpPr>
        <p:spPr>
          <a:xfrm>
            <a:off x="4416552" y="1219200"/>
            <a:ext cx="4000500" cy="4991100"/>
          </a:xfrm>
          <a:prstGeom prst="rect">
            <a:avLst/>
          </a:prstGeom>
          <a:solidFill>
            <a:srgbClr val="0E161C"/>
          </a:solidFill>
          <a:ln w="19050">
            <a:solidFill>
              <a:srgbClr val="67C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vert="horz" lIns="228600" tIns="190500" rIns="228600" bIns="171450" anchor="t">
            <a:normAutofit fontScale="95389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 lang="en-US" sz="1650" b="1" dirty="0">
                <a:solidFill>
                  <a:srgbClr val="E8E8E8"/>
                </a:solidFill>
              </a:rPr>
              <a:t>CLASS</a:t>
            </a:r>
            <a:r>
              <a:rPr sz="1650" b="1" dirty="0">
                <a:solidFill>
                  <a:srgbClr val="E8E8E8"/>
                </a:solidFill>
              </a:rPr>
              <a:t> CHOICE</a:t>
            </a:r>
            <a:r>
              <a:rPr lang="en-US" sz="1650" b="1" dirty="0">
                <a:solidFill>
                  <a:srgbClr val="E8E8E8"/>
                </a:solidFill>
              </a:rPr>
              <a:t> &amp; REASON</a:t>
            </a:r>
            <a:endParaRPr sz="1650" b="1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50" b="1" dirty="0" err="1">
                <a:solidFill>
                  <a:srgbClr val="E8E8E8"/>
                </a:solidFill>
              </a:rPr>
              <a:t>Legerdemainist</a:t>
            </a:r>
            <a:r>
              <a:rPr lang="en-US" sz="1650" b="1" dirty="0">
                <a:solidFill>
                  <a:srgbClr val="E8E8E8"/>
                </a:solidFill>
              </a:rPr>
              <a:t> – </a:t>
            </a:r>
            <a:r>
              <a:rPr lang="en-US" sz="1650" dirty="0">
                <a:solidFill>
                  <a:srgbClr val="E8E8E8"/>
                </a:solidFill>
              </a:rPr>
              <a:t>The</a:t>
            </a:r>
            <a:r>
              <a:rPr lang="en-US" sz="1650" b="1" dirty="0">
                <a:solidFill>
                  <a:srgbClr val="E8E8E8"/>
                </a:solidFill>
              </a:rPr>
              <a:t> </a:t>
            </a:r>
            <a:r>
              <a:rPr sz="1650" dirty="0">
                <a:solidFill>
                  <a:srgbClr val="E8E8E8"/>
                </a:solidFill>
              </a:rPr>
              <a:t>illusionist school</a:t>
            </a:r>
            <a:r>
              <a:rPr lang="en-US" sz="1650" dirty="0">
                <a:solidFill>
                  <a:srgbClr val="E8E8E8"/>
                </a:solidFill>
              </a:rPr>
              <a:t> offers an interesting spell list that rewards player creativity, and the Thief abilities are useful for party play.</a:t>
            </a:r>
            <a:endParaRPr sz="1650" dirty="0">
              <a:solidFill>
                <a:srgbClr val="E8E8E8"/>
              </a:solidFill>
            </a:endParaRPr>
          </a:p>
          <a:p>
            <a:pPr>
              <a:buNone/>
            </a:pPr>
            <a:endParaRPr sz="165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50" b="1" dirty="0">
                <a:solidFill>
                  <a:srgbClr val="E8E8E8"/>
                </a:solidFill>
              </a:rPr>
              <a:t>ADJUSTED ATTRIBUTES</a:t>
            </a:r>
          </a:p>
          <a:p>
            <a:pPr>
              <a:buNone/>
            </a:pPr>
            <a:r>
              <a:rPr lang="en-US" sz="1650" dirty="0">
                <a:solidFill>
                  <a:srgbClr val="E8E8E8"/>
                </a:solidFill>
              </a:rPr>
              <a:t>ST 10 (-2)		DX </a:t>
            </a:r>
            <a:r>
              <a:rPr sz="1650" dirty="0">
                <a:solidFill>
                  <a:srgbClr val="E8E8E8"/>
                </a:solidFill>
              </a:rPr>
              <a:t>17</a:t>
            </a:r>
          </a:p>
          <a:p>
            <a:pPr>
              <a:buNone/>
            </a:pPr>
            <a:r>
              <a:rPr lang="en-US" sz="1650" dirty="0">
                <a:solidFill>
                  <a:srgbClr val="E8E8E8"/>
                </a:solidFill>
              </a:rPr>
              <a:t>CN </a:t>
            </a:r>
            <a:r>
              <a:rPr sz="1650" dirty="0">
                <a:solidFill>
                  <a:srgbClr val="E8E8E8"/>
                </a:solidFill>
              </a:rPr>
              <a:t>1</a:t>
            </a:r>
            <a:r>
              <a:rPr lang="en-US" sz="1650" dirty="0">
                <a:solidFill>
                  <a:srgbClr val="E8E8E8"/>
                </a:solidFill>
              </a:rPr>
              <a:t>1 (-2)   	IN </a:t>
            </a:r>
            <a:r>
              <a:rPr sz="1650" dirty="0">
                <a:solidFill>
                  <a:srgbClr val="E8E8E8"/>
                </a:solidFill>
              </a:rPr>
              <a:t>1</a:t>
            </a:r>
            <a:r>
              <a:rPr lang="en-US" sz="1650" dirty="0">
                <a:solidFill>
                  <a:srgbClr val="E8E8E8"/>
                </a:solidFill>
              </a:rPr>
              <a:t>7</a:t>
            </a:r>
            <a:r>
              <a:rPr sz="1650" dirty="0">
                <a:solidFill>
                  <a:srgbClr val="E8E8E8"/>
                </a:solidFill>
              </a:rPr>
              <a:t> (+</a:t>
            </a:r>
            <a:r>
              <a:rPr lang="en-US" sz="1650" dirty="0">
                <a:solidFill>
                  <a:srgbClr val="E8E8E8"/>
                </a:solidFill>
              </a:rPr>
              <a:t>4</a:t>
            </a:r>
            <a:r>
              <a:rPr sz="1650" dirty="0">
                <a:solidFill>
                  <a:srgbClr val="E8E8E8"/>
                </a:solidFill>
              </a:rPr>
              <a:t>)</a:t>
            </a:r>
          </a:p>
          <a:p>
            <a:pPr>
              <a:buNone/>
            </a:pPr>
            <a:r>
              <a:rPr lang="en-US" sz="1650" dirty="0">
                <a:solidFill>
                  <a:srgbClr val="E8E8E8"/>
                </a:solidFill>
              </a:rPr>
              <a:t>WS </a:t>
            </a:r>
            <a:r>
              <a:rPr sz="1650" dirty="0">
                <a:solidFill>
                  <a:srgbClr val="E8E8E8"/>
                </a:solidFill>
              </a:rPr>
              <a:t>1</a:t>
            </a:r>
            <a:r>
              <a:rPr lang="en-US" sz="1650" dirty="0">
                <a:solidFill>
                  <a:srgbClr val="E8E8E8"/>
                </a:solidFill>
              </a:rPr>
              <a:t>2	    	CH 9 (-4)</a:t>
            </a:r>
            <a:endParaRPr sz="1650" dirty="0">
              <a:solidFill>
                <a:srgbClr val="E8E8E8"/>
              </a:solidFill>
            </a:endParaRPr>
          </a:p>
          <a:p>
            <a:pPr>
              <a:buNone/>
            </a:pPr>
            <a:endParaRPr sz="165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50" b="1" dirty="0">
                <a:solidFill>
                  <a:srgbClr val="E8E8E8"/>
                </a:solidFill>
              </a:rPr>
              <a:t>WHY ADJUST?</a:t>
            </a:r>
          </a:p>
          <a:p>
            <a:pPr>
              <a:buNone/>
            </a:pPr>
            <a:r>
              <a:rPr lang="en-US" sz="1650" dirty="0">
                <a:solidFill>
                  <a:srgbClr val="E8E8E8"/>
                </a:solidFill>
              </a:rPr>
              <a:t>DX </a:t>
            </a:r>
            <a:r>
              <a:rPr sz="1650" dirty="0">
                <a:solidFill>
                  <a:srgbClr val="E8E8E8"/>
                </a:solidFill>
              </a:rPr>
              <a:t>and </a:t>
            </a:r>
            <a:r>
              <a:rPr lang="en-US" sz="1650" dirty="0">
                <a:solidFill>
                  <a:srgbClr val="E8E8E8"/>
                </a:solidFill>
              </a:rPr>
              <a:t>IN </a:t>
            </a:r>
            <a:r>
              <a:rPr sz="1650" dirty="0">
                <a:solidFill>
                  <a:srgbClr val="E8E8E8"/>
                </a:solidFill>
              </a:rPr>
              <a:t>at 16+ secure the +10% XP bonus.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C16808-295B-D1C9-DDEB-FBC1B7489F2E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32CB89-F2D0-E00E-94DF-93A0F6366E7D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6254E8-A422-31A5-5778-2E9EB71697AE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19756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960" y="-3444"/>
            <a:ext cx="4257040" cy="68614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8EAB2C-8533-0477-B8D4-B3643916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59536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METHOD IV  ·  </a:t>
            </a: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Method II Redux</a:t>
            </a:r>
            <a:endParaRPr sz="36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1F5F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/>
              <a:ea typeface="Georgia"/>
              <a:cs typeface="Georg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D11411-FC01-EA60-9361-02F057C3C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3884064" cy="4991100"/>
          </a:xfrm>
        </p:spPr>
        <p:txBody>
          <a:bodyPr lIns="228600" tIns="190500" rIns="228600" bIns="171450" anchor="t">
            <a:noAutofit/>
          </a:bodyPr>
          <a:lstStyle/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ROLL THREE TIMES</a:t>
            </a: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;</a:t>
            </a: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KEEP EACH BEST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ST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12      13      </a:t>
            </a:r>
            <a:r>
              <a:rPr sz="1600" b="1" dirty="0">
                <a:solidFill>
                  <a:srgbClr val="C7D2D9"/>
                </a:solidFill>
                <a:effectLst>
                  <a:glow rad="1270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14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DX	   5        </a:t>
            </a:r>
            <a:r>
              <a:rPr sz="1600" b="1" dirty="0">
                <a:solidFill>
                  <a:srgbClr val="C7D2D9"/>
                </a:solidFill>
                <a:effectLst>
                  <a:glow rad="1270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8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        7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CN	</a:t>
            </a:r>
            <a:r>
              <a:rPr sz="1600" b="1" dirty="0">
                <a:solidFill>
                  <a:srgbClr val="C7D2D9"/>
                </a:solidFill>
                <a:effectLst>
                  <a:glow rad="1270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13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     11         9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IN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13        9       </a:t>
            </a:r>
            <a:r>
              <a:rPr sz="1600" b="1" dirty="0">
                <a:solidFill>
                  <a:srgbClr val="C7D2D9"/>
                </a:solidFill>
                <a:effectLst>
                  <a:glow rad="1270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14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WS	</a:t>
            </a:r>
            <a:r>
              <a:rPr sz="1600" b="1" dirty="0">
                <a:solidFill>
                  <a:srgbClr val="C7D2D9"/>
                </a:solidFill>
                <a:effectLst>
                  <a:glow rad="1270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14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       8       10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CH	   8      </a:t>
            </a:r>
            <a:r>
              <a:rPr sz="1600" b="1" dirty="0">
                <a:solidFill>
                  <a:srgbClr val="C7D2D9"/>
                </a:solidFill>
                <a:effectLst>
                  <a:glow rad="1270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14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        6</a:t>
            </a:r>
          </a:p>
          <a:p>
            <a:pPr>
              <a:buNone/>
            </a:pPr>
            <a:endParaRPr sz="1600" b="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QUALIFYING CLASSES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Fighter · Magician · Cleric · Warlock · </a:t>
            </a:r>
            <a:r>
              <a:rPr sz="1600" b="0" dirty="0" err="1">
                <a:solidFill>
                  <a:srgbClr val="C7D2D9"/>
                </a:solidFill>
                <a:latin typeface="Aptos"/>
                <a:ea typeface="Aptos"/>
                <a:cs typeface="Aptos"/>
              </a:rPr>
              <a:t>Cryomancer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· Necromancer · Pyromancer · Witch · Druid · Priest · Runegraver · Shaman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8A4610-0D9C-A9D9-583A-357A71139EA9}"/>
              </a:ext>
            </a:extLst>
          </p:cNvPr>
          <p:cNvSpPr>
            <a:spLocks noGrp="1"/>
          </p:cNvSpPr>
          <p:nvPr/>
        </p:nvSpPr>
        <p:spPr>
          <a:xfrm>
            <a:off x="4419600" y="1219200"/>
            <a:ext cx="4000500" cy="4991100"/>
          </a:xfrm>
          <a:prstGeom prst="rect">
            <a:avLst/>
          </a:prstGeom>
          <a:solidFill>
            <a:srgbClr val="0E161C"/>
          </a:solidFill>
          <a:ln w="19050">
            <a:solidFill>
              <a:srgbClr val="67C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vert="horz" lIns="228600" tIns="190500" rIns="228600" bIns="17145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CLASS</a:t>
            </a: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CHOICE</a:t>
            </a: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&amp; REASON</a:t>
            </a:r>
            <a:endParaRPr sz="1600" b="1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Shaman</a:t>
            </a: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600" b="1" dirty="0">
                <a:solidFill>
                  <a:srgbClr val="E8E8E8"/>
                </a:solidFill>
              </a:rPr>
              <a:t>–</a:t>
            </a: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Many classes are a solid option with this array, but Shaman offers a wide variety of sorcery options on a single character.</a:t>
            </a: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endParaRPr sz="1600" b="1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ADJUSTED ATTRIBUTES</a:t>
            </a: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ST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10 (−4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)		DX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8</a:t>
            </a: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CN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13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    	IN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16 (+2)</a:t>
            </a: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WS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16 (+2)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  	CH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10 (−4)</a:t>
            </a:r>
          </a:p>
          <a:p>
            <a:pPr>
              <a:buNone/>
            </a:pPr>
            <a:endParaRPr sz="160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WHY ADJUST?</a:t>
            </a: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IN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and 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WS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at 16+ secure the +10% XP bonus.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96B62D-F8A3-63E7-95AC-7A7E06B003BF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2F5394-AB7B-6D07-F313-B11287C7F883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EAF5D-B236-3B53-554E-E54891490788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3570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486BD9-E356-C0C7-F716-38F01294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59536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METHOD V  ·  </a:t>
            </a: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My Personal Favorite</a:t>
            </a:r>
            <a:endParaRPr sz="36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1F5F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/>
              <a:ea typeface="Georgia"/>
              <a:cs typeface="Georg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AF8339-EF9D-887C-FC97-E54A445F7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3822192" cy="49911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rmAutofit/>
          </a:bodyPr>
          <a:lstStyle/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THE ROLL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2d6 + 6 in order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ST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16   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DX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10   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CN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12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IN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17    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WS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12   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CH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14</a:t>
            </a:r>
          </a:p>
          <a:p>
            <a:pPr>
              <a:buNone/>
            </a:pPr>
            <a:endParaRPr sz="1600" b="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QUALIFYING CLASSES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All except Barbarian, Berserker, Paladin, Bard, </a:t>
            </a:r>
            <a:r>
              <a:rPr sz="1600" b="0" dirty="0" err="1">
                <a:solidFill>
                  <a:srgbClr val="C7D2D9"/>
                </a:solidFill>
                <a:latin typeface="Aptos"/>
                <a:ea typeface="Aptos"/>
                <a:cs typeface="Aptos"/>
              </a:rPr>
              <a:t>Legerdemainist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, and Purloiner.</a:t>
            </a:r>
          </a:p>
        </p:txBody>
      </p:sp>
      <p:pic>
        <p:nvPicPr>
          <p:cNvPr id="1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097" y="0"/>
            <a:ext cx="4254903" cy="68580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EC4C4A3-C3EB-EFB7-03AB-E95532DE78A2}"/>
              </a:ext>
            </a:extLst>
          </p:cNvPr>
          <p:cNvSpPr>
            <a:spLocks noGrp="1"/>
          </p:cNvSpPr>
          <p:nvPr/>
        </p:nvSpPr>
        <p:spPr>
          <a:xfrm>
            <a:off x="4416552" y="1219200"/>
            <a:ext cx="4000500" cy="4991100"/>
          </a:xfrm>
          <a:prstGeom prst="rect">
            <a:avLst/>
          </a:prstGeom>
          <a:solidFill>
            <a:srgbClr val="0E161C"/>
          </a:solidFill>
          <a:ln w="19050">
            <a:solidFill>
              <a:srgbClr val="67C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vert="horz" lIns="228600" tIns="190500" rIns="228600" bIns="17145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CLASS</a:t>
            </a: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CHOICE</a:t>
            </a: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&amp; REASON</a:t>
            </a:r>
            <a:endParaRPr sz="1600" b="1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Warlock</a:t>
            </a: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– 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Incredibly strong ST and IN stats were generated immediately, covering the requirements for 10% XP bonus immediately.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endParaRPr sz="1600" b="1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ADJUSTED ATTRIBUTES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ST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17 (+1)  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DX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10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CN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15 (+3)  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IN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17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WS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10 (−2)  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CH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8 (−6)</a:t>
            </a:r>
          </a:p>
          <a:p>
            <a:pPr>
              <a:buNone/>
            </a:pPr>
            <a:endParaRPr sz="1600" b="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WHY ADJUST?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Prime attributes become eligible for the +10% XP bonus.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</a:t>
            </a: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lso</a:t>
            </a: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: warlocks are awesome.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4C7399-6558-3A6A-951E-694E4DB3F81E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488B9E-B36D-B05C-BFC5-96262363453F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8CA05-BD83-E5FC-4164-E4F6DC8BE693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1221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CD93F9-2E6F-7DD7-BC71-4F7B8E8C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59536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METHOD VI  ·  Choose the class first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8CCC6F-5154-AD34-F820-767B60B42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3822192" cy="4991100"/>
          </a:xfrm>
        </p:spPr>
        <p:txBody>
          <a:bodyPr lIns="228600" tIns="190500" rIns="228600" bIns="171450" anchor="t">
            <a:normAutofit/>
          </a:bodyPr>
          <a:lstStyle/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THE CLASS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Berserker</a:t>
            </a:r>
            <a:r>
              <a:rPr lang="en-US"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– 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Requiring two attributes over 15 (ST and CN) makes it a difficult class to qualify for.</a:t>
            </a:r>
            <a:endParaRPr sz="160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>
              <a:buNone/>
            </a:pPr>
            <a:endParaRPr sz="1600" b="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THE ROLL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Use 3d6 for attributes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with no requirement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.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Use 4d6, drop low—and reroll until the minimum—for required attributes.</a:t>
            </a:r>
          </a:p>
          <a:p>
            <a:pPr>
              <a:buNone/>
            </a:pPr>
            <a:endParaRPr sz="1600" b="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ST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15   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DX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12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CN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9 → 12 → 8 → 15</a:t>
            </a:r>
          </a:p>
          <a:p>
            <a:pPr algn="l"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IN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5   	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WS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12</a:t>
            </a:r>
            <a:r>
              <a:rPr lang="en-US"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CH </a:t>
            </a:r>
            <a:r>
              <a:rPr sz="1600" b="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09DB27-0138-5764-4B41-166E9E17A6E2}"/>
              </a:ext>
            </a:extLst>
          </p:cNvPr>
          <p:cNvSpPr>
            <a:spLocks noGrp="1"/>
          </p:cNvSpPr>
          <p:nvPr/>
        </p:nvSpPr>
        <p:spPr>
          <a:xfrm>
            <a:off x="4416552" y="1219200"/>
            <a:ext cx="4000500" cy="4991100"/>
          </a:xfrm>
          <a:prstGeom prst="rect">
            <a:avLst/>
          </a:prstGeom>
          <a:solidFill>
            <a:srgbClr val="0E161C"/>
          </a:solidFill>
          <a:ln w="19050">
            <a:solidFill>
              <a:srgbClr val="67C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vert="horz" lIns="228600" tIns="190500" rIns="228600" bIns="171450" anchor="t">
            <a:noAutofit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ADJUSTED ATTRIBUTES</a:t>
            </a: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ST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16 (+1)  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DX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15 (+3)</a:t>
            </a: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CN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16 (+1)  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IN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5</a:t>
            </a: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WS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6 (−6)    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CH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6 (−4)</a:t>
            </a:r>
          </a:p>
          <a:p>
            <a:pPr>
              <a:buNone/>
            </a:pPr>
            <a:endParaRPr sz="160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WHY ADJUST?</a:t>
            </a: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ST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and 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CN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at 16 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for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a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+10% XP bonus.</a:t>
            </a: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DX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15 improves defense.</a:t>
            </a:r>
            <a:endParaRPr lang="en-US" sz="160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Don’t need smarts if you can smash!</a:t>
            </a:r>
            <a:endParaRPr sz="160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>
              <a:buNone/>
            </a:pPr>
            <a:endParaRPr sz="1600" dirty="0">
              <a:solidFill>
                <a:srgbClr val="C7D2D9"/>
              </a:solidFill>
              <a:latin typeface="Aptos"/>
              <a:ea typeface="Aptos"/>
              <a:cs typeface="Aptos"/>
            </a:endParaRP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THE TRADEOFF</a:t>
            </a:r>
          </a:p>
          <a:p>
            <a:pPr>
              <a:spcAft>
                <a:spcPts val="6"/>
              </a:spcAft>
              <a:buNone/>
              <a:defRPr sz="1500">
                <a:solidFill>
                  <a:srgbClr val="C7D2D9"/>
                </a:solidFill>
                <a:latin typeface="Aptos"/>
                <a:ea typeface="Aptos"/>
                <a:cs typeface="Aptos"/>
              </a:defRPr>
            </a:pP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	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Your class is protected; the rest of the character can be </a:t>
            </a:r>
            <a:r>
              <a:rPr lang="en-US"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gloriously </a:t>
            </a:r>
            <a:r>
              <a:rPr sz="1600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uneven.</a:t>
            </a:r>
          </a:p>
        </p:txBody>
      </p:sp>
      <p:pic>
        <p:nvPicPr>
          <p:cNvPr id="14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097" y="0"/>
            <a:ext cx="4254903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05F0365-B7CD-BAAD-32B3-1E5B608EB5BD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94E10C-747C-2596-3842-2951B7A08D6A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D3146-4DC9-1907-CB1F-03A1D568D3BE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7387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FD69B9-31F1-7FB6-9368-E48627212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119" y="1290637"/>
            <a:ext cx="4572000" cy="42767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3AF1BC-4B04-0CCF-413D-ED9DCD266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450" y="1200150"/>
            <a:ext cx="9563100" cy="44577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  <p:txBody>
          <a:bodyPr lIns="419100" tIns="323850" rIns="419100" bIns="285750" anchor="ctr">
            <a:normAutofit/>
          </a:bodyPr>
          <a:lstStyle/>
          <a:p>
            <a:pPr algn="ctr">
              <a:spcAft>
                <a:spcPts val="6"/>
              </a:spcAft>
              <a:buNone/>
            </a:pPr>
            <a:r>
              <a:rPr sz="495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Steps 3-6</a:t>
            </a:r>
          </a:p>
          <a:p>
            <a:pPr algn="ctr">
              <a:spcAft>
                <a:spcPts val="6"/>
              </a:spcAft>
              <a:buNone/>
            </a:pPr>
            <a:r>
              <a:rPr sz="495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Finish the Character</a:t>
            </a:r>
          </a:p>
          <a:p>
            <a:pPr>
              <a:buNone/>
            </a:pPr>
            <a:endParaRPr sz="4950" b="1" dirty="0">
              <a:solidFill>
                <a:srgbClr val="F1F5F7"/>
              </a:solidFill>
              <a:latin typeface="Georgia"/>
              <a:ea typeface="Georgia"/>
              <a:cs typeface="Georgia"/>
            </a:endParaRPr>
          </a:p>
          <a:p>
            <a:pPr algn="ctr">
              <a:spcAft>
                <a:spcPts val="6"/>
              </a:spcAft>
              <a:buNone/>
            </a:pPr>
            <a:r>
              <a:rPr lang="en-US" sz="1950" i="1" dirty="0">
                <a:solidFill>
                  <a:srgbClr val="C7D2D9"/>
                </a:solidFill>
                <a:latin typeface="Georgia"/>
                <a:ea typeface="Georgia"/>
                <a:cs typeface="Georgia"/>
              </a:rPr>
              <a:t>Backgrounds, Equipment, and Spells</a:t>
            </a:r>
            <a:endParaRPr sz="1950" i="1" dirty="0">
              <a:solidFill>
                <a:srgbClr val="C7D2D9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1FFC19-8C9D-0A64-0EB5-9A6039D29A23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05BC89-3947-060E-9D75-6B6082FE25E3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A8602-03AF-4363-8561-77112EC508D8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6097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7DA051-47D6-E5C1-271A-AB760F5D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1127760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STEP 3 </a:t>
            </a: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–</a:t>
            </a: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 </a:t>
            </a: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Develop a Background – Pick or Roll!</a:t>
            </a:r>
            <a:endParaRPr sz="36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1F5F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/>
              <a:ea typeface="Georgia"/>
              <a:cs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4E946-21DB-E256-71AA-2B6C9D269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62050"/>
            <a:ext cx="10820400" cy="50673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rmAutofit fontScale="87332" lnSpcReduction="10000"/>
          </a:bodyPr>
          <a:lstStyle/>
          <a:p>
            <a:pPr>
              <a:buNone/>
            </a:pPr>
            <a:r>
              <a:rPr b="1" dirty="0">
                <a:solidFill>
                  <a:srgbClr val="E8E8E8"/>
                </a:solidFill>
              </a:rPr>
              <a:t>RACE  </a:t>
            </a:r>
            <a:r>
              <a:rPr dirty="0">
                <a:solidFill>
                  <a:srgbClr val="E8E8E8"/>
                </a:solidFill>
              </a:rPr>
              <a:t>Choose a culture or roll d%; 96-00 leads to the ancillary-race table.</a:t>
            </a:r>
          </a:p>
          <a:p>
            <a:pPr>
              <a:buNone/>
            </a:pPr>
            <a:r>
              <a:rPr b="1" dirty="0">
                <a:solidFill>
                  <a:srgbClr val="E8E8E8"/>
                </a:solidFill>
              </a:rPr>
              <a:t>PHYSIQUE  </a:t>
            </a:r>
            <a:r>
              <a:rPr dirty="0">
                <a:solidFill>
                  <a:srgbClr val="E8E8E8"/>
                </a:solidFill>
              </a:rPr>
              <a:t>Choose or roll gender, age, height, weight, eyes, hair, and complexion.</a:t>
            </a:r>
          </a:p>
          <a:p>
            <a:pPr>
              <a:buNone/>
            </a:pPr>
            <a:r>
              <a:rPr b="1" dirty="0">
                <a:solidFill>
                  <a:srgbClr val="E8E8E8"/>
                </a:solidFill>
              </a:rPr>
              <a:t>ALIGNMENT  </a:t>
            </a:r>
            <a:r>
              <a:rPr dirty="0">
                <a:solidFill>
                  <a:srgbClr val="E8E8E8"/>
                </a:solidFill>
              </a:rPr>
              <a:t>Pick a world view permitted by the character class.</a:t>
            </a:r>
          </a:p>
          <a:p>
            <a:pPr>
              <a:buNone/>
            </a:pPr>
            <a:r>
              <a:rPr b="1" dirty="0">
                <a:solidFill>
                  <a:srgbClr val="E8E8E8"/>
                </a:solidFill>
              </a:rPr>
              <a:t>LANGUAGES  </a:t>
            </a:r>
            <a:r>
              <a:rPr dirty="0">
                <a:solidFill>
                  <a:srgbClr val="E8E8E8"/>
                </a:solidFill>
              </a:rPr>
              <a:t>Begin with Common and a native tongue; </a:t>
            </a:r>
            <a:r>
              <a:rPr lang="en-US" dirty="0">
                <a:solidFill>
                  <a:srgbClr val="E8E8E8"/>
                </a:solidFill>
              </a:rPr>
              <a:t>IN </a:t>
            </a:r>
            <a:r>
              <a:rPr dirty="0">
                <a:solidFill>
                  <a:srgbClr val="E8E8E8"/>
                </a:solidFill>
              </a:rPr>
              <a:t>13+ grants bonus languages.</a:t>
            </a:r>
          </a:p>
          <a:p>
            <a:pPr>
              <a:buNone/>
            </a:pPr>
            <a:r>
              <a:rPr b="1" dirty="0">
                <a:solidFill>
                  <a:srgbClr val="E8E8E8"/>
                </a:solidFill>
              </a:rPr>
              <a:t>RELIGION  </a:t>
            </a:r>
            <a:r>
              <a:rPr dirty="0">
                <a:solidFill>
                  <a:srgbClr val="E8E8E8"/>
                </a:solidFill>
              </a:rPr>
              <a:t>Select a deity, pairing, totem, ethos, or no formal faith.</a:t>
            </a:r>
          </a:p>
          <a:p>
            <a:pPr>
              <a:buNone/>
            </a:pPr>
            <a:r>
              <a:rPr b="1" dirty="0">
                <a:solidFill>
                  <a:srgbClr val="E8E8E8"/>
                </a:solidFill>
              </a:rPr>
              <a:t>SECONDARY SKILL  </a:t>
            </a:r>
            <a:r>
              <a:rPr dirty="0">
                <a:solidFill>
                  <a:srgbClr val="E8E8E8"/>
                </a:solidFill>
              </a:rPr>
              <a:t>Roll a column and row on Table 72, or select with referee approval.</a:t>
            </a:r>
          </a:p>
          <a:p>
            <a:pPr>
              <a:buNone/>
            </a:pPr>
            <a:endParaRPr dirty="0">
              <a:solidFill>
                <a:srgbClr val="E8E8E8"/>
              </a:solidFill>
            </a:endParaRPr>
          </a:p>
          <a:p>
            <a:pPr>
              <a:buNone/>
            </a:pPr>
            <a:r>
              <a:rPr lang="en-US" i="1" dirty="0">
                <a:solidFill>
                  <a:srgbClr val="E8E8E8"/>
                </a:solidFill>
              </a:rPr>
              <a:t>Tables for these elements are found starting on page 114 of the Player’s Manual.</a:t>
            </a:r>
          </a:p>
          <a:p>
            <a:pPr>
              <a:buNone/>
            </a:pPr>
            <a:r>
              <a:rPr lang="en-US" i="1" dirty="0">
                <a:solidFill>
                  <a:srgbClr val="E8E8E8"/>
                </a:solidFill>
              </a:rPr>
              <a:t>For purposes of this exercise, I chose races and genders that matched the art in the books, rather than random determination.</a:t>
            </a:r>
            <a:endParaRPr i="1" dirty="0">
              <a:solidFill>
                <a:srgbClr val="E8E8E8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AAAE53-85DE-02EA-C0BE-3D8714CAD5F4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B5F27F-80FE-504C-5DAC-991E2B392337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A264E3-327C-3666-893E-77D9FEC5AD1D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47560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7DA051-47D6-E5C1-271A-AB760F5D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1127760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STEP 4 </a:t>
            </a: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–</a:t>
            </a: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 </a:t>
            </a: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Class Packs vs. Purchase Equipment</a:t>
            </a:r>
            <a:endParaRPr sz="36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1F5F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/>
              <a:ea typeface="Georgia"/>
              <a:cs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4E946-21DB-E256-71AA-2B6C9D269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00150"/>
            <a:ext cx="10820400" cy="49530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rmAutofit fontScale="82922" lnSpcReduction="20000"/>
          </a:bodyPr>
          <a:lstStyle/>
          <a:p>
            <a:pPr>
              <a:buNone/>
            </a:pPr>
            <a:r>
              <a:rPr b="1" dirty="0">
                <a:solidFill>
                  <a:srgbClr val="E8E8E8"/>
                </a:solidFill>
              </a:rPr>
              <a:t>OPTION A - CLASS PACK  </a:t>
            </a:r>
            <a:r>
              <a:rPr dirty="0">
                <a:solidFill>
                  <a:srgbClr val="E8E8E8"/>
                </a:solidFill>
              </a:rPr>
              <a:t>Take the ready-made list printed with the class.</a:t>
            </a:r>
          </a:p>
          <a:p>
            <a:pPr>
              <a:buNone/>
            </a:pPr>
            <a:r>
              <a:rPr b="1" dirty="0">
                <a:solidFill>
                  <a:srgbClr val="E8E8E8"/>
                </a:solidFill>
              </a:rPr>
              <a:t>OPTION B - STARTING GOLD  </a:t>
            </a:r>
            <a:r>
              <a:rPr dirty="0">
                <a:solidFill>
                  <a:srgbClr val="E8E8E8"/>
                </a:solidFill>
              </a:rPr>
              <a:t>Roll the class's starting money, then buy </a:t>
            </a:r>
            <a:r>
              <a:rPr dirty="0" err="1">
                <a:solidFill>
                  <a:srgbClr val="E8E8E8"/>
                </a:solidFill>
              </a:rPr>
              <a:t>armour</a:t>
            </a:r>
            <a:r>
              <a:rPr dirty="0">
                <a:solidFill>
                  <a:srgbClr val="E8E8E8"/>
                </a:solidFill>
              </a:rPr>
              <a:t>, shields, weapons, and gear.</a:t>
            </a:r>
            <a:endParaRPr lang="en-US" dirty="0">
              <a:solidFill>
                <a:srgbClr val="E8E8E8"/>
              </a:solidFill>
            </a:endParaRPr>
          </a:p>
          <a:p>
            <a:pPr>
              <a:buNone/>
            </a:pPr>
            <a:endParaRPr dirty="0">
              <a:solidFill>
                <a:srgbClr val="E8E8E8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E8E8E8"/>
                </a:solidFill>
              </a:rPr>
              <a:t>Make note of </a:t>
            </a:r>
            <a:r>
              <a:rPr dirty="0">
                <a:solidFill>
                  <a:srgbClr val="E8E8E8"/>
                </a:solidFill>
              </a:rPr>
              <a:t>class limit</a:t>
            </a:r>
            <a:r>
              <a:rPr lang="en-US" dirty="0">
                <a:solidFill>
                  <a:srgbClr val="E8E8E8"/>
                </a:solidFill>
              </a:rPr>
              <a:t>ations</a:t>
            </a:r>
            <a:r>
              <a:rPr dirty="0">
                <a:solidFill>
                  <a:srgbClr val="E8E8E8"/>
                </a:solidFill>
              </a:rPr>
              <a:t> for </a:t>
            </a:r>
            <a:r>
              <a:rPr dirty="0" err="1">
                <a:solidFill>
                  <a:srgbClr val="E8E8E8"/>
                </a:solidFill>
              </a:rPr>
              <a:t>armour</a:t>
            </a:r>
            <a:r>
              <a:rPr dirty="0">
                <a:solidFill>
                  <a:srgbClr val="E8E8E8"/>
                </a:solidFill>
              </a:rPr>
              <a:t>, shields, and weapons.</a:t>
            </a:r>
            <a:r>
              <a:rPr b="1" dirty="0">
                <a:solidFill>
                  <a:srgbClr val="E8E8E8"/>
                </a:solidFill>
              </a:rPr>
              <a:t>  </a:t>
            </a:r>
            <a:r>
              <a:rPr dirty="0">
                <a:solidFill>
                  <a:srgbClr val="E8E8E8"/>
                </a:solidFill>
              </a:rPr>
              <a:t>Track carried items, ammunition, containers, money, </a:t>
            </a:r>
            <a:r>
              <a:rPr dirty="0" err="1">
                <a:solidFill>
                  <a:srgbClr val="E8E8E8"/>
                </a:solidFill>
              </a:rPr>
              <a:t>armour</a:t>
            </a:r>
            <a:r>
              <a:rPr dirty="0">
                <a:solidFill>
                  <a:srgbClr val="E8E8E8"/>
                </a:solidFill>
              </a:rPr>
              <a:t> class, and movement.</a:t>
            </a:r>
          </a:p>
          <a:p>
            <a:pPr>
              <a:buNone/>
            </a:pPr>
            <a:endParaRPr dirty="0">
              <a:solidFill>
                <a:srgbClr val="E8E8E8"/>
              </a:solidFill>
            </a:endParaRPr>
          </a:p>
          <a:p>
            <a:pPr>
              <a:buNone/>
            </a:pPr>
            <a:r>
              <a:rPr dirty="0">
                <a:solidFill>
                  <a:srgbClr val="E8E8E8"/>
                </a:solidFill>
              </a:rPr>
              <a:t>For this </a:t>
            </a:r>
            <a:r>
              <a:rPr lang="en-US" dirty="0">
                <a:solidFill>
                  <a:srgbClr val="E8E8E8"/>
                </a:solidFill>
              </a:rPr>
              <a:t>video</a:t>
            </a:r>
            <a:r>
              <a:rPr dirty="0">
                <a:solidFill>
                  <a:srgbClr val="E8E8E8"/>
                </a:solidFill>
              </a:rPr>
              <a:t>, all six characters take their class starting pack</a:t>
            </a:r>
            <a:r>
              <a:rPr lang="en-US" dirty="0">
                <a:solidFill>
                  <a:srgbClr val="E8E8E8"/>
                </a:solidFill>
              </a:rPr>
              <a:t>, because I hate shopping episodes</a:t>
            </a:r>
            <a:r>
              <a:rPr dirty="0">
                <a:solidFill>
                  <a:srgbClr val="E8E8E8"/>
                </a:solidFill>
              </a:rPr>
              <a:t>.</a:t>
            </a:r>
            <a:endParaRPr lang="en-US" dirty="0">
              <a:solidFill>
                <a:srgbClr val="E8E8E8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E8E8E8"/>
                </a:solidFill>
              </a:rPr>
              <a:t>Each pack also supplies 1d4+1 </a:t>
            </a:r>
            <a:r>
              <a:rPr lang="en-US" dirty="0" err="1">
                <a:solidFill>
                  <a:srgbClr val="E8E8E8"/>
                </a:solidFill>
              </a:rPr>
              <a:t>gp</a:t>
            </a:r>
            <a:r>
              <a:rPr lang="en-US" dirty="0">
                <a:solidFill>
                  <a:srgbClr val="E8E8E8"/>
                </a:solidFill>
              </a:rPr>
              <a:t>; those pocket-money rolls are recorded on the character slides.</a:t>
            </a:r>
          </a:p>
          <a:p>
            <a:pPr>
              <a:buNone/>
            </a:pPr>
            <a:endParaRPr lang="en-US" dirty="0">
              <a:solidFill>
                <a:srgbClr val="E8E8E8"/>
              </a:solidFill>
            </a:endParaRPr>
          </a:p>
          <a:p>
            <a:pPr>
              <a:buNone/>
            </a:pPr>
            <a:r>
              <a:rPr lang="en-US" i="1" dirty="0">
                <a:solidFill>
                  <a:srgbClr val="E8E8E8"/>
                </a:solidFill>
              </a:rPr>
              <a:t>Class packs are found in each Class’s section of Chapter 4.  Equipment tables are found in Chapter 6: Equipment, starting on page 136 of the Player’s Manual.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C66B5B-4B1B-E0ED-B1B1-B7967C4DD837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3E3B2C-7EF0-4624-0921-F3F4E5318595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B4F50F-A334-E4C1-576C-56565A665856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47560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7DA051-47D6-E5C1-271A-AB760F5D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1127760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STEP 5 </a:t>
            </a: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–</a:t>
            </a: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 </a:t>
            </a: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Determine Starting Spells</a:t>
            </a:r>
            <a:endParaRPr sz="36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1F5F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/>
              <a:ea typeface="Georgia"/>
              <a:cs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4E946-21DB-E256-71AA-2B6C9D269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62050"/>
            <a:ext cx="10820400" cy="50673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rmAutofit fontScale="80054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b="1" dirty="0">
                <a:solidFill>
                  <a:srgbClr val="E8E8E8"/>
                </a:solidFill>
              </a:rPr>
              <a:t>FIND THE </a:t>
            </a:r>
            <a:r>
              <a:rPr lang="en-US" b="1" dirty="0">
                <a:solidFill>
                  <a:srgbClr val="E8E8E8"/>
                </a:solidFill>
              </a:rPr>
              <a:t>SPELL LIST</a:t>
            </a:r>
            <a:r>
              <a:rPr b="1" dirty="0">
                <a:solidFill>
                  <a:srgbClr val="E8E8E8"/>
                </a:solidFill>
              </a:rPr>
              <a:t>  </a:t>
            </a:r>
            <a:r>
              <a:rPr dirty="0">
                <a:solidFill>
                  <a:srgbClr val="E8E8E8"/>
                </a:solidFill>
              </a:rPr>
              <a:t>The class states the schools, levels, and number of starting spells.</a:t>
            </a:r>
            <a:r>
              <a:rPr lang="en-US" dirty="0">
                <a:solidFill>
                  <a:srgbClr val="E8E8E8"/>
                </a:solidFill>
              </a:rPr>
              <a:t>  Spell lists start on page 165 of the </a:t>
            </a:r>
            <a:r>
              <a:rPr lang="en-US" i="1" dirty="0">
                <a:solidFill>
                  <a:srgbClr val="E8E8E8"/>
                </a:solidFill>
              </a:rPr>
              <a:t>Player’s Manual</a:t>
            </a:r>
            <a:r>
              <a:rPr lang="en-US" dirty="0">
                <a:solidFill>
                  <a:srgbClr val="E8E8E8"/>
                </a:solidFill>
              </a:rPr>
              <a:t>.</a:t>
            </a:r>
            <a:endParaRPr dirty="0">
              <a:solidFill>
                <a:srgbClr val="E8E8E8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b="1" dirty="0">
                <a:solidFill>
                  <a:srgbClr val="E8E8E8"/>
                </a:solidFill>
              </a:rPr>
              <a:t>ROLL d%  </a:t>
            </a:r>
            <a:r>
              <a:rPr dirty="0">
                <a:solidFill>
                  <a:srgbClr val="E8E8E8"/>
                </a:solidFill>
              </a:rPr>
              <a:t>Match each result to the uncover range in the appropriate spell-list table.</a:t>
            </a:r>
            <a:r>
              <a:rPr lang="en-US" dirty="0">
                <a:solidFill>
                  <a:srgbClr val="E8E8E8"/>
                </a:solidFill>
              </a:rPr>
              <a:t>  Or pick your favorites if your Referee is amenable.</a:t>
            </a:r>
            <a:endParaRPr dirty="0">
              <a:solidFill>
                <a:srgbClr val="E8E8E8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b="1" dirty="0">
                <a:solidFill>
                  <a:srgbClr val="E8E8E8"/>
                </a:solidFill>
              </a:rPr>
              <a:t>REROLL</a:t>
            </a:r>
            <a:r>
              <a:rPr b="1" dirty="0">
                <a:solidFill>
                  <a:srgbClr val="E8E8E8"/>
                </a:solidFill>
              </a:rPr>
              <a:t> REPEATS  </a:t>
            </a:r>
            <a:r>
              <a:rPr dirty="0">
                <a:solidFill>
                  <a:srgbClr val="E8E8E8"/>
                </a:solidFill>
              </a:rPr>
              <a:t>Reroll duplicate results</a:t>
            </a:r>
            <a:r>
              <a:rPr lang="en-US" dirty="0">
                <a:solidFill>
                  <a:srgbClr val="E8E8E8"/>
                </a:solidFill>
              </a:rPr>
              <a:t>; all</a:t>
            </a:r>
            <a:r>
              <a:rPr dirty="0">
                <a:solidFill>
                  <a:srgbClr val="E8E8E8"/>
                </a:solidFill>
              </a:rPr>
              <a:t> known spells are </a:t>
            </a:r>
            <a:r>
              <a:rPr lang="en-US" dirty="0">
                <a:solidFill>
                  <a:srgbClr val="E8E8E8"/>
                </a:solidFill>
              </a:rPr>
              <a:t>distinct</a:t>
            </a:r>
            <a:r>
              <a:rPr dirty="0">
                <a:solidFill>
                  <a:srgbClr val="E8E8E8"/>
                </a:solidFill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b="1" dirty="0">
                <a:solidFill>
                  <a:srgbClr val="E8E8E8"/>
                </a:solidFill>
              </a:rPr>
              <a:t>RECORD BOTH TOTALS  </a:t>
            </a:r>
            <a:r>
              <a:rPr dirty="0">
                <a:solidFill>
                  <a:srgbClr val="E8E8E8"/>
                </a:solidFill>
              </a:rPr>
              <a:t>Known spells and spells cast per day are not always the same.</a:t>
            </a:r>
          </a:p>
          <a:p>
            <a:pPr>
              <a:buNone/>
            </a:pPr>
            <a:endParaRPr lang="en-US" dirty="0">
              <a:solidFill>
                <a:srgbClr val="E8E8E8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E8E8E8"/>
                </a:solidFill>
              </a:rPr>
              <a:t>KNOWN SPELLS FOR THE GENERATED CHARACTERS:</a:t>
            </a:r>
            <a:endParaRPr b="1" dirty="0">
              <a:solidFill>
                <a:srgbClr val="E8E8E8"/>
              </a:solidFill>
            </a:endParaRPr>
          </a:p>
          <a:p>
            <a:pPr>
              <a:buNone/>
            </a:pPr>
            <a:r>
              <a:rPr dirty="0">
                <a:solidFill>
                  <a:srgbClr val="E8E8E8"/>
                </a:solidFill>
              </a:rPr>
              <a:t>Priest: 4 cleric spells</a:t>
            </a:r>
            <a:r>
              <a:rPr lang="en-US" dirty="0">
                <a:solidFill>
                  <a:srgbClr val="E8E8E8"/>
                </a:solidFill>
              </a:rPr>
              <a:t>				</a:t>
            </a:r>
            <a:r>
              <a:rPr dirty="0" err="1">
                <a:solidFill>
                  <a:srgbClr val="E8E8E8"/>
                </a:solidFill>
              </a:rPr>
              <a:t>Legerdemainist</a:t>
            </a:r>
            <a:r>
              <a:rPr dirty="0">
                <a:solidFill>
                  <a:srgbClr val="E8E8E8"/>
                </a:solidFill>
              </a:rPr>
              <a:t>: </a:t>
            </a:r>
            <a:r>
              <a:rPr lang="en-US" dirty="0">
                <a:solidFill>
                  <a:srgbClr val="E8E8E8"/>
                </a:solidFill>
              </a:rPr>
              <a:t>1</a:t>
            </a:r>
            <a:r>
              <a:rPr dirty="0">
                <a:solidFill>
                  <a:srgbClr val="E8E8E8"/>
                </a:solidFill>
              </a:rPr>
              <a:t> illusionist spell</a:t>
            </a:r>
            <a:endParaRPr lang="en-US" dirty="0">
              <a:solidFill>
                <a:srgbClr val="E8E8E8"/>
              </a:solidFill>
            </a:endParaRPr>
          </a:p>
          <a:p>
            <a:pPr>
              <a:buNone/>
            </a:pPr>
            <a:r>
              <a:rPr dirty="0">
                <a:solidFill>
                  <a:srgbClr val="E8E8E8"/>
                </a:solidFill>
              </a:rPr>
              <a:t>Shaman: </a:t>
            </a:r>
            <a:r>
              <a:rPr lang="en-US" dirty="0">
                <a:solidFill>
                  <a:srgbClr val="E8E8E8"/>
                </a:solidFill>
              </a:rPr>
              <a:t>1</a:t>
            </a:r>
            <a:r>
              <a:rPr dirty="0">
                <a:solidFill>
                  <a:srgbClr val="E8E8E8"/>
                </a:solidFill>
              </a:rPr>
              <a:t> druid spell at 1st level</a:t>
            </a:r>
            <a:r>
              <a:rPr lang="en-US" dirty="0">
                <a:solidFill>
                  <a:srgbClr val="E8E8E8"/>
                </a:solidFill>
              </a:rPr>
              <a:t>		</a:t>
            </a:r>
            <a:r>
              <a:rPr dirty="0">
                <a:solidFill>
                  <a:srgbClr val="E8E8E8"/>
                </a:solidFill>
              </a:rPr>
              <a:t>Warlock: </a:t>
            </a:r>
            <a:r>
              <a:rPr lang="en-US" dirty="0">
                <a:solidFill>
                  <a:srgbClr val="E8E8E8"/>
                </a:solidFill>
              </a:rPr>
              <a:t>1</a:t>
            </a:r>
            <a:r>
              <a:rPr dirty="0">
                <a:solidFill>
                  <a:srgbClr val="E8E8E8"/>
                </a:solidFill>
              </a:rPr>
              <a:t> magician spell.</a:t>
            </a:r>
          </a:p>
          <a:p>
            <a:pPr>
              <a:buNone/>
            </a:pPr>
            <a:r>
              <a:rPr dirty="0">
                <a:solidFill>
                  <a:srgbClr val="E8E8E8"/>
                </a:solidFill>
              </a:rPr>
              <a:t>Runegraver rolls its class rune table</a:t>
            </a:r>
            <a:r>
              <a:rPr lang="en-US" dirty="0">
                <a:solidFill>
                  <a:srgbClr val="E8E8E8"/>
                </a:solidFill>
              </a:rPr>
              <a:t>		</a:t>
            </a:r>
            <a:r>
              <a:rPr dirty="0">
                <a:solidFill>
                  <a:srgbClr val="E8E8E8"/>
                </a:solidFill>
              </a:rPr>
              <a:t>Berserker has no spells.</a:t>
            </a:r>
            <a:endParaRPr lang="en-US" dirty="0">
              <a:solidFill>
                <a:srgbClr val="E8E8E8"/>
              </a:solidFill>
            </a:endParaRPr>
          </a:p>
          <a:p>
            <a:pPr>
              <a:buNone/>
            </a:pPr>
            <a:endParaRPr lang="en-US" dirty="0">
              <a:solidFill>
                <a:srgbClr val="E8E8E8"/>
              </a:solidFill>
            </a:endParaRPr>
          </a:p>
          <a:p>
            <a:pPr>
              <a:buNone/>
            </a:pPr>
            <a:r>
              <a:rPr lang="en-US" i="1" dirty="0">
                <a:solidFill>
                  <a:srgbClr val="E8E8E8"/>
                </a:solidFill>
              </a:rPr>
              <a:t>Chapter 7: Sorcery begins on page 156 of the Player’s Manual.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798FC-4BC6-E25E-43AF-C8D96A80A927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78B62C-7B83-574C-D3CE-D36D48DF228A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FD911A-B1A8-C4AC-E2C3-D827643E76C2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47560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7DA051-47D6-E5C1-271A-AB760F5D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11277600" cy="781050"/>
          </a:xfrm>
        </p:spPr>
        <p:txBody>
          <a:bodyPr lIns="0" tIns="0" rIns="0" bIns="0" anchor="ctr">
            <a:normAutofit/>
          </a:bodyPr>
          <a:lstStyle/>
          <a:p>
            <a:pPr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STEP 6 </a:t>
            </a: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–</a:t>
            </a: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 </a:t>
            </a: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Record Other Statistics</a:t>
            </a:r>
            <a:endParaRPr sz="36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1F5F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/>
              <a:ea typeface="Georgia"/>
              <a:cs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4E946-21DB-E256-71AA-2B6C9D269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00150"/>
            <a:ext cx="10820400" cy="49530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rmAutofit fontScale="80132" lnSpcReduction="20000"/>
          </a:bodyPr>
          <a:lstStyle/>
          <a:p>
            <a:pPr>
              <a:buNone/>
            </a:pPr>
            <a:r>
              <a:rPr b="1" dirty="0">
                <a:solidFill>
                  <a:srgbClr val="E8E8E8"/>
                </a:solidFill>
              </a:rPr>
              <a:t>ARMOUR CLASS</a:t>
            </a:r>
            <a:r>
              <a:rPr lang="en-US" b="1" dirty="0">
                <a:solidFill>
                  <a:srgbClr val="E8E8E8"/>
                </a:solidFill>
              </a:rPr>
              <a:t> (AC)</a:t>
            </a:r>
            <a:r>
              <a:rPr b="1" dirty="0">
                <a:solidFill>
                  <a:srgbClr val="E8E8E8"/>
                </a:solidFill>
              </a:rPr>
              <a:t>  </a:t>
            </a:r>
            <a:r>
              <a:rPr dirty="0">
                <a:solidFill>
                  <a:srgbClr val="E8E8E8"/>
                </a:solidFill>
              </a:rPr>
              <a:t>Start with </a:t>
            </a:r>
            <a:r>
              <a:rPr dirty="0" err="1">
                <a:solidFill>
                  <a:srgbClr val="E8E8E8"/>
                </a:solidFill>
              </a:rPr>
              <a:t>armour</a:t>
            </a:r>
            <a:r>
              <a:rPr dirty="0">
                <a:solidFill>
                  <a:srgbClr val="E8E8E8"/>
                </a:solidFill>
              </a:rPr>
              <a:t>, then improve it for shield and </a:t>
            </a:r>
            <a:r>
              <a:rPr lang="en-US" dirty="0">
                <a:solidFill>
                  <a:srgbClr val="E8E8E8"/>
                </a:solidFill>
              </a:rPr>
              <a:t>DX </a:t>
            </a:r>
            <a:r>
              <a:rPr dirty="0" err="1">
                <a:solidFill>
                  <a:srgbClr val="E8E8E8"/>
                </a:solidFill>
              </a:rPr>
              <a:t>defence</a:t>
            </a:r>
            <a:r>
              <a:rPr dirty="0">
                <a:solidFill>
                  <a:srgbClr val="E8E8E8"/>
                </a:solidFill>
              </a:rPr>
              <a:t> bonuses.</a:t>
            </a:r>
          </a:p>
          <a:p>
            <a:pPr>
              <a:buNone/>
            </a:pPr>
            <a:endParaRPr lang="en-US" b="1" dirty="0">
              <a:solidFill>
                <a:srgbClr val="E8E8E8"/>
              </a:solidFill>
            </a:endParaRPr>
          </a:p>
          <a:p>
            <a:pPr>
              <a:buNone/>
            </a:pPr>
            <a:r>
              <a:rPr b="1" dirty="0">
                <a:solidFill>
                  <a:srgbClr val="E8E8E8"/>
                </a:solidFill>
              </a:rPr>
              <a:t>HIT POINTS</a:t>
            </a:r>
            <a:r>
              <a:rPr lang="en-US" b="1" dirty="0">
                <a:solidFill>
                  <a:srgbClr val="E8E8E8"/>
                </a:solidFill>
              </a:rPr>
              <a:t> (HP)</a:t>
            </a:r>
            <a:r>
              <a:rPr b="1" dirty="0">
                <a:solidFill>
                  <a:srgbClr val="E8E8E8"/>
                </a:solidFill>
              </a:rPr>
              <a:t>  </a:t>
            </a:r>
            <a:r>
              <a:rPr dirty="0">
                <a:solidFill>
                  <a:srgbClr val="E8E8E8"/>
                </a:solidFill>
              </a:rPr>
              <a:t>Roll the class hit die and apply the </a:t>
            </a:r>
            <a:r>
              <a:rPr lang="en-US" dirty="0">
                <a:solidFill>
                  <a:srgbClr val="E8E8E8"/>
                </a:solidFill>
              </a:rPr>
              <a:t>CN </a:t>
            </a:r>
            <a:r>
              <a:rPr dirty="0">
                <a:solidFill>
                  <a:srgbClr val="E8E8E8"/>
                </a:solidFill>
              </a:rPr>
              <a:t>adjustment; minimum 1 hp.</a:t>
            </a:r>
          </a:p>
          <a:p>
            <a:pPr>
              <a:buNone/>
            </a:pPr>
            <a:r>
              <a:rPr lang="en-US" b="1" dirty="0">
                <a:solidFill>
                  <a:srgbClr val="E8E8E8"/>
                </a:solidFill>
              </a:rPr>
              <a:t>	</a:t>
            </a:r>
            <a:r>
              <a:rPr lang="en-US" i="1" dirty="0">
                <a:solidFill>
                  <a:srgbClr val="E8E8E8"/>
                </a:solidFill>
              </a:rPr>
              <a:t>Many referees will house-rule maximum HP at level 1.</a:t>
            </a:r>
          </a:p>
          <a:p>
            <a:pPr>
              <a:buNone/>
            </a:pPr>
            <a:endParaRPr lang="en-US" b="1" dirty="0">
              <a:solidFill>
                <a:srgbClr val="E8E8E8"/>
              </a:solidFill>
            </a:endParaRPr>
          </a:p>
          <a:p>
            <a:pPr>
              <a:buNone/>
            </a:pPr>
            <a:r>
              <a:rPr b="1" dirty="0">
                <a:solidFill>
                  <a:srgbClr val="E8E8E8"/>
                </a:solidFill>
              </a:rPr>
              <a:t>MOVEMENT  </a:t>
            </a:r>
            <a:r>
              <a:rPr dirty="0">
                <a:solidFill>
                  <a:srgbClr val="E8E8E8"/>
                </a:solidFill>
              </a:rPr>
              <a:t>Use the </a:t>
            </a:r>
            <a:r>
              <a:rPr dirty="0" err="1">
                <a:solidFill>
                  <a:srgbClr val="E8E8E8"/>
                </a:solidFill>
              </a:rPr>
              <a:t>armour</a:t>
            </a:r>
            <a:r>
              <a:rPr dirty="0">
                <a:solidFill>
                  <a:srgbClr val="E8E8E8"/>
                </a:solidFill>
              </a:rPr>
              <a:t> movement rate: </a:t>
            </a:r>
            <a:endParaRPr lang="en-US" dirty="0">
              <a:solidFill>
                <a:srgbClr val="E8E8E8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E8E8E8"/>
                </a:solidFill>
              </a:rPr>
              <a:t>	</a:t>
            </a:r>
            <a:r>
              <a:rPr dirty="0">
                <a:solidFill>
                  <a:srgbClr val="E8E8E8"/>
                </a:solidFill>
              </a:rPr>
              <a:t>none/light 40</a:t>
            </a:r>
            <a:r>
              <a:rPr lang="en-US" dirty="0">
                <a:solidFill>
                  <a:srgbClr val="E8E8E8"/>
                </a:solidFill>
              </a:rPr>
              <a:t> ft./round  </a:t>
            </a:r>
            <a:r>
              <a:rPr lang="en-US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·  </a:t>
            </a:r>
            <a:r>
              <a:rPr dirty="0">
                <a:solidFill>
                  <a:srgbClr val="E8E8E8"/>
                </a:solidFill>
              </a:rPr>
              <a:t>medium 30</a:t>
            </a:r>
            <a:r>
              <a:rPr lang="en-US" dirty="0">
                <a:solidFill>
                  <a:srgbClr val="E8E8E8"/>
                </a:solidFill>
              </a:rPr>
              <a:t> ft./round  </a:t>
            </a:r>
            <a:r>
              <a:rPr lang="en-US" dirty="0">
                <a:solidFill>
                  <a:srgbClr val="C7D2D9"/>
                </a:solidFill>
                <a:latin typeface="Aptos"/>
                <a:ea typeface="Aptos"/>
                <a:cs typeface="Aptos"/>
              </a:rPr>
              <a:t>·  </a:t>
            </a:r>
            <a:r>
              <a:rPr dirty="0">
                <a:solidFill>
                  <a:srgbClr val="E8E8E8"/>
                </a:solidFill>
              </a:rPr>
              <a:t>heavy 20 feet per round.</a:t>
            </a:r>
          </a:p>
          <a:p>
            <a:pPr>
              <a:buNone/>
            </a:pPr>
            <a:endParaRPr lang="en-US" b="1" dirty="0">
              <a:solidFill>
                <a:srgbClr val="E8E8E8"/>
              </a:solidFill>
            </a:endParaRPr>
          </a:p>
          <a:p>
            <a:pPr>
              <a:buNone/>
            </a:pPr>
            <a:r>
              <a:rPr b="1" dirty="0">
                <a:solidFill>
                  <a:srgbClr val="E8E8E8"/>
                </a:solidFill>
              </a:rPr>
              <a:t>CLASS VALUES  </a:t>
            </a:r>
            <a:r>
              <a:rPr dirty="0">
                <a:solidFill>
                  <a:srgbClr val="E8E8E8"/>
                </a:solidFill>
              </a:rPr>
              <a:t>Copy SV, FA, CA, and TA from the 1st-level class table.</a:t>
            </a:r>
          </a:p>
          <a:p>
            <a:pPr>
              <a:buNone/>
            </a:pPr>
            <a:r>
              <a:rPr lang="en-US" dirty="0">
                <a:solidFill>
                  <a:srgbClr val="E8E8E8"/>
                </a:solidFill>
              </a:rPr>
              <a:t>	</a:t>
            </a:r>
            <a:r>
              <a:rPr lang="en-US" i="1" dirty="0">
                <a:solidFill>
                  <a:srgbClr val="E8E8E8"/>
                </a:solidFill>
              </a:rPr>
              <a:t>SV – Saving Throw	FA – Fighting Ability	CA – Casting Ability	TA – Turning Ability</a:t>
            </a:r>
          </a:p>
          <a:p>
            <a:pPr>
              <a:buNone/>
            </a:pPr>
            <a:endParaRPr lang="en-US" dirty="0">
              <a:solidFill>
                <a:srgbClr val="E8E8E8"/>
              </a:solidFill>
            </a:endParaRPr>
          </a:p>
          <a:p>
            <a:pPr>
              <a:buNone/>
            </a:pPr>
            <a:r>
              <a:rPr b="1" dirty="0">
                <a:solidFill>
                  <a:srgbClr val="E8E8E8"/>
                </a:solidFill>
              </a:rPr>
              <a:t>CASTS PER DAY  </a:t>
            </a:r>
            <a:r>
              <a:rPr dirty="0">
                <a:solidFill>
                  <a:srgbClr val="E8E8E8"/>
                </a:solidFill>
              </a:rPr>
              <a:t>Apply eligible </a:t>
            </a:r>
            <a:r>
              <a:rPr lang="en-US" dirty="0">
                <a:solidFill>
                  <a:srgbClr val="E8E8E8"/>
                </a:solidFill>
              </a:rPr>
              <a:t>IN </a:t>
            </a:r>
            <a:r>
              <a:rPr dirty="0">
                <a:solidFill>
                  <a:srgbClr val="E8E8E8"/>
                </a:solidFill>
              </a:rPr>
              <a:t>or </a:t>
            </a:r>
            <a:r>
              <a:rPr lang="en-US" dirty="0">
                <a:solidFill>
                  <a:srgbClr val="E8E8E8"/>
                </a:solidFill>
              </a:rPr>
              <a:t>WS </a:t>
            </a:r>
            <a:r>
              <a:rPr dirty="0">
                <a:solidFill>
                  <a:srgbClr val="E8E8E8"/>
                </a:solidFill>
              </a:rPr>
              <a:t>bonus spells to the class </a:t>
            </a:r>
            <a:r>
              <a:rPr lang="en-US" dirty="0">
                <a:solidFill>
                  <a:srgbClr val="E8E8E8"/>
                </a:solidFill>
              </a:rPr>
              <a:t>spell schedule</a:t>
            </a:r>
            <a:r>
              <a:rPr dirty="0">
                <a:solidFill>
                  <a:srgbClr val="E8E8E8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1CA1D6-F00E-65EE-6186-3D66C8A3A32E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60C88C-174E-CC5B-F717-D118F5E51B1A}"/>
              </a:ext>
            </a:extLst>
          </p:cNvPr>
          <p:cNvSpPr txBox="1"/>
          <p:nvPr/>
        </p:nvSpPr>
        <p:spPr>
          <a:xfrm>
            <a:off x="9126855" y="6490397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939F1E-D89C-7D9E-C56F-7C0B159B2DE9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47560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6668" y="0"/>
            <a:ext cx="425490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CD93F9-2E6F-7DD7-BC71-4F7B8E8C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59536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ZOTIKOS - PRIEST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8CCC6F-5154-AD34-F820-767B60B42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3822192" cy="49911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Autofit/>
          </a:bodyPr>
          <a:lstStyle/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BACKGROUND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Greek man, age 24; 5 ft. 9 in., 170 lb.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Black hair, hazel eyes; Lawful Good.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Common + Hellenic; Apollo; scribe/scrivener.</a:t>
            </a:r>
          </a:p>
          <a:p>
            <a:pPr>
              <a:buNone/>
            </a:pP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PRIEST STARTING PACK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Silver dagger, quarterstaff, whip; backpack, bandages, blanket, religious clothing.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Silver holy symbol, holy water, prayer beads; rations, sack, tinderbox, 3 torches, wineskin, writing stick; 4 </a:t>
            </a:r>
            <a:r>
              <a:rPr sz="1600" dirty="0" err="1">
                <a:solidFill>
                  <a:srgbClr val="E8E8E8"/>
                </a:solidFill>
              </a:rPr>
              <a:t>gp</a:t>
            </a:r>
            <a:r>
              <a:rPr sz="1600" dirty="0">
                <a:solidFill>
                  <a:srgbClr val="E8E8E8"/>
                </a:solidFill>
              </a:rPr>
              <a:t>.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073A0DF-4EFC-3008-ED9F-06F61A9A0D5D}"/>
              </a:ext>
            </a:extLst>
          </p:cNvPr>
          <p:cNvSpPr>
            <a:spLocks noGrp="1"/>
          </p:cNvSpPr>
          <p:nvPr/>
        </p:nvSpPr>
        <p:spPr>
          <a:xfrm>
            <a:off x="4416552" y="1219200"/>
            <a:ext cx="4000500" cy="4991100"/>
          </a:xfrm>
          <a:prstGeom prst="rect">
            <a:avLst/>
          </a:prstGeom>
          <a:solidFill>
            <a:srgbClr val="0E161C"/>
          </a:solidFill>
          <a:ln w="19050">
            <a:solidFill>
              <a:srgbClr val="67C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vert="horz" lIns="228600" tIns="190500" rIns="228600" bIns="171450" anchor="t">
            <a:normAutofit fontScale="98182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CLERIC SPELLS - 4 KNOWN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d% </a:t>
            </a:r>
            <a:r>
              <a:rPr lang="en-US" sz="1600" dirty="0">
                <a:solidFill>
                  <a:srgbClr val="E8E8E8"/>
                </a:solidFill>
              </a:rPr>
              <a:t>(</a:t>
            </a:r>
            <a:r>
              <a:rPr sz="1600" dirty="0">
                <a:solidFill>
                  <a:srgbClr val="E8E8E8"/>
                </a:solidFill>
              </a:rPr>
              <a:t>54</a:t>
            </a:r>
            <a:r>
              <a:rPr lang="en-US" sz="1600" dirty="0">
                <a:solidFill>
                  <a:srgbClr val="E8E8E8"/>
                </a:solidFill>
              </a:rPr>
              <a:t>) -</a:t>
            </a:r>
            <a:r>
              <a:rPr sz="1600" dirty="0">
                <a:solidFill>
                  <a:srgbClr val="E8E8E8"/>
                </a:solidFill>
              </a:rPr>
              <a:t> Detect Venom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d% </a:t>
            </a:r>
            <a:r>
              <a:rPr lang="en-US" sz="1600" dirty="0">
                <a:solidFill>
                  <a:srgbClr val="E8E8E8"/>
                </a:solidFill>
              </a:rPr>
              <a:t>(</a:t>
            </a:r>
            <a:r>
              <a:rPr sz="1600" dirty="0">
                <a:solidFill>
                  <a:srgbClr val="E8E8E8"/>
                </a:solidFill>
              </a:rPr>
              <a:t>14</a:t>
            </a:r>
            <a:r>
              <a:rPr lang="en-US" sz="1600" dirty="0">
                <a:solidFill>
                  <a:srgbClr val="E8E8E8"/>
                </a:solidFill>
              </a:rPr>
              <a:t>) -</a:t>
            </a:r>
            <a:r>
              <a:rPr sz="1600" dirty="0">
                <a:solidFill>
                  <a:srgbClr val="E8E8E8"/>
                </a:solidFill>
              </a:rPr>
              <a:t> Ceremony of Consecration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d% </a:t>
            </a:r>
            <a:r>
              <a:rPr lang="en-US" sz="1600" dirty="0">
                <a:solidFill>
                  <a:srgbClr val="E8E8E8"/>
                </a:solidFill>
              </a:rPr>
              <a:t>(</a:t>
            </a:r>
            <a:r>
              <a:rPr sz="1600" dirty="0">
                <a:solidFill>
                  <a:srgbClr val="E8E8E8"/>
                </a:solidFill>
              </a:rPr>
              <a:t>03</a:t>
            </a:r>
            <a:r>
              <a:rPr lang="en-US" sz="1600" dirty="0">
                <a:solidFill>
                  <a:srgbClr val="E8E8E8"/>
                </a:solidFill>
              </a:rPr>
              <a:t>) -</a:t>
            </a:r>
            <a:r>
              <a:rPr sz="1600" dirty="0">
                <a:solidFill>
                  <a:srgbClr val="E8E8E8"/>
                </a:solidFill>
              </a:rPr>
              <a:t> Bless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d% </a:t>
            </a:r>
            <a:r>
              <a:rPr lang="en-US" sz="1600" dirty="0">
                <a:solidFill>
                  <a:srgbClr val="E8E8E8"/>
                </a:solidFill>
              </a:rPr>
              <a:t>(</a:t>
            </a:r>
            <a:r>
              <a:rPr sz="1600" dirty="0">
                <a:solidFill>
                  <a:srgbClr val="E8E8E8"/>
                </a:solidFill>
              </a:rPr>
              <a:t>57</a:t>
            </a:r>
            <a:r>
              <a:rPr lang="en-US" sz="1600" dirty="0">
                <a:solidFill>
                  <a:srgbClr val="E8E8E8"/>
                </a:solidFill>
              </a:rPr>
              <a:t>) -</a:t>
            </a:r>
            <a:r>
              <a:rPr sz="1600" dirty="0">
                <a:solidFill>
                  <a:srgbClr val="E8E8E8"/>
                </a:solidFill>
              </a:rPr>
              <a:t> Light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Casts 3 level</a:t>
            </a:r>
            <a:r>
              <a:rPr lang="en-US" sz="1600" dirty="0">
                <a:solidFill>
                  <a:srgbClr val="E8E8E8"/>
                </a:solidFill>
              </a:rPr>
              <a:t> </a:t>
            </a:r>
            <a:r>
              <a:rPr sz="1600" dirty="0">
                <a:solidFill>
                  <a:srgbClr val="E8E8E8"/>
                </a:solidFill>
              </a:rPr>
              <a:t>1 spells/day: 2 base + 1 WIS.</a:t>
            </a:r>
          </a:p>
          <a:p>
            <a:pPr>
              <a:buNone/>
            </a:pP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OTHER STATISTICS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AC 9  -  MV 40  -  HD 1d4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HP 3: roll 3, </a:t>
            </a:r>
            <a:r>
              <a:rPr lang="en-US" sz="1600" dirty="0">
                <a:solidFill>
                  <a:srgbClr val="E8E8E8"/>
                </a:solidFill>
              </a:rPr>
              <a:t>CN </a:t>
            </a:r>
            <a:r>
              <a:rPr sz="1600" dirty="0">
                <a:solidFill>
                  <a:srgbClr val="E8E8E8"/>
                </a:solidFill>
              </a:rPr>
              <a:t>+0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SV 16  -  FA 0  -  CA 1  -  TA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402CE8-C84B-9AFB-9794-D92F38AA7787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A8283B-0286-A53F-5EDE-84234EBEF8E5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80049-9508-355D-47EF-5D943B9BECA4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7387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097" y="0"/>
            <a:ext cx="425490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CD93F9-2E6F-7DD7-BC71-4F7B8E8C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59536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SIGRID - RUNEGRAVER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8CCC6F-5154-AD34-F820-767B60B42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3822192" cy="49911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rmAutofit fontScale="98005"/>
          </a:bodyPr>
          <a:lstStyle/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BACKGROUND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Viking woman, age 19; 5 ft. 11 in., 175 lb.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Blond hair, blue eyes; Chaotic Good.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Common + Old Norse; Ymir and Ullr; brewer/vintner.</a:t>
            </a:r>
          </a:p>
          <a:p>
            <a:pPr>
              <a:buNone/>
            </a:pP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RUNEGRAVER STARTING PACK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Studded </a:t>
            </a:r>
            <a:r>
              <a:rPr sz="1600" dirty="0" err="1">
                <a:solidFill>
                  <a:srgbClr val="E8E8E8"/>
                </a:solidFill>
              </a:rPr>
              <a:t>armour</a:t>
            </a:r>
            <a:r>
              <a:rPr sz="1600" dirty="0">
                <a:solidFill>
                  <a:srgbClr val="E8E8E8"/>
                </a:solidFill>
              </a:rPr>
              <a:t>; battle axe, short bow, 12 arrows, 2 silver arrows, dagger.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Quiver, backpack, bandages, chalk, dice, holy symbol, drinking horn, rations, tinderbox, 2 torches, waterskin, writing stick; 4 </a:t>
            </a:r>
            <a:r>
              <a:rPr sz="1600" dirty="0" err="1">
                <a:solidFill>
                  <a:srgbClr val="E8E8E8"/>
                </a:solidFill>
              </a:rPr>
              <a:t>gp</a:t>
            </a:r>
            <a:r>
              <a:rPr sz="1600" dirty="0">
                <a:solidFill>
                  <a:srgbClr val="E8E8E8"/>
                </a:solidFill>
              </a:rPr>
              <a:t>.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073A0DF-4EFC-3008-ED9F-06F61A9A0D5D}"/>
              </a:ext>
            </a:extLst>
          </p:cNvPr>
          <p:cNvSpPr>
            <a:spLocks noGrp="1"/>
          </p:cNvSpPr>
          <p:nvPr/>
        </p:nvSpPr>
        <p:spPr>
          <a:xfrm>
            <a:off x="4416552" y="1219200"/>
            <a:ext cx="4000500" cy="4991100"/>
          </a:xfrm>
          <a:prstGeom prst="rect">
            <a:avLst/>
          </a:prstGeom>
          <a:solidFill>
            <a:srgbClr val="0E161C"/>
          </a:solidFill>
          <a:ln w="19050">
            <a:solidFill>
              <a:srgbClr val="67C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vert="horz" lIns="228600" tIns="190500" rIns="228600" bIns="171450" anchor="t">
            <a:normAutofit fontScale="97522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STARTING RUNE</a:t>
            </a:r>
          </a:p>
          <a:p>
            <a:pPr>
              <a:buNone/>
            </a:pPr>
            <a:r>
              <a:rPr lang="en-US" sz="1600" dirty="0">
                <a:solidFill>
                  <a:srgbClr val="E8E8E8"/>
                </a:solidFill>
              </a:rPr>
              <a:t>d</a:t>
            </a:r>
            <a:r>
              <a:rPr sz="1600" dirty="0">
                <a:solidFill>
                  <a:srgbClr val="E8E8E8"/>
                </a:solidFill>
              </a:rPr>
              <a:t>3</a:t>
            </a:r>
            <a:r>
              <a:rPr lang="en-US" sz="1600" dirty="0">
                <a:solidFill>
                  <a:srgbClr val="E8E8E8"/>
                </a:solidFill>
              </a:rPr>
              <a:t> (</a:t>
            </a:r>
            <a:r>
              <a:rPr sz="1600" dirty="0">
                <a:solidFill>
                  <a:srgbClr val="E8E8E8"/>
                </a:solidFill>
              </a:rPr>
              <a:t>2</a:t>
            </a:r>
            <a:r>
              <a:rPr lang="en-US" sz="1600" dirty="0">
                <a:solidFill>
                  <a:srgbClr val="E8E8E8"/>
                </a:solidFill>
              </a:rPr>
              <a:t>)</a:t>
            </a:r>
            <a:r>
              <a:rPr sz="1600" dirty="0">
                <a:solidFill>
                  <a:srgbClr val="E8E8E8"/>
                </a:solidFill>
              </a:rPr>
              <a:t>  Man rune - Command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Invokes 1 level-1 rune/day; costs 1 hp to cast.</a:t>
            </a:r>
          </a:p>
          <a:p>
            <a:pPr>
              <a:buNone/>
            </a:pP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OTHER STATISTICS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AC 6: studded </a:t>
            </a:r>
            <a:r>
              <a:rPr sz="1600" dirty="0" err="1">
                <a:solidFill>
                  <a:srgbClr val="E8E8E8"/>
                </a:solidFill>
              </a:rPr>
              <a:t>armour</a:t>
            </a: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MV 40  -  HD 1d8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HP 8: roll 8, </a:t>
            </a:r>
            <a:r>
              <a:rPr lang="en-US" sz="1600" dirty="0">
                <a:solidFill>
                  <a:srgbClr val="E8E8E8"/>
                </a:solidFill>
              </a:rPr>
              <a:t>CN </a:t>
            </a:r>
            <a:r>
              <a:rPr sz="1600" dirty="0">
                <a:solidFill>
                  <a:srgbClr val="E8E8E8"/>
                </a:solidFill>
              </a:rPr>
              <a:t>+/-0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SV 16  -  FA 1  -  CA 1  -  TA n/a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96263D-2509-1572-49BD-B2F7BB1B5387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2B7876-EAA9-F83C-AE8B-FA681DC0E8EF}"/>
              </a:ext>
            </a:extLst>
          </p:cNvPr>
          <p:cNvSpPr txBox="1"/>
          <p:nvPr/>
        </p:nvSpPr>
        <p:spPr>
          <a:xfrm>
            <a:off x="9126855" y="6490397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DFCEA-7E2E-0052-F7A1-2CE0525F2551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7387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6622" y="0"/>
            <a:ext cx="476537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F8E131-8A59-35EE-5069-8FF6923A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031480" cy="781050"/>
          </a:xfrm>
        </p:spPr>
        <p:txBody>
          <a:bodyPr lIns="0" tIns="0" rIns="0" bIns="0" anchor="ctr">
            <a:normAutofit fontScale="94555"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 w="9525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glow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CUNOVINDOS - LEGERDEMAINIST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85D37F-E578-B310-E1D4-24B4179C7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3822192" cy="49911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Autofit/>
          </a:bodyPr>
          <a:lstStyle/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BACKGROUND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Pict man, age 22; 5 ft. 8 in., 145 lb.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Red hair, green eyes; Neutral.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Common + Keltic (</a:t>
            </a:r>
            <a:r>
              <a:rPr sz="1600" dirty="0" err="1">
                <a:solidFill>
                  <a:srgbClr val="E8E8E8"/>
                </a:solidFill>
              </a:rPr>
              <a:t>Pictish</a:t>
            </a:r>
            <a:r>
              <a:rPr sz="1600" dirty="0">
                <a:solidFill>
                  <a:srgbClr val="E8E8E8"/>
                </a:solidFill>
              </a:rPr>
              <a:t>) + Old Norse; Rel; locksmith.</a:t>
            </a:r>
          </a:p>
          <a:p>
            <a:pPr>
              <a:buNone/>
            </a:pP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LEGERDEMAINIST STARTING PACK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Studded </a:t>
            </a:r>
            <a:r>
              <a:rPr sz="1600" dirty="0" err="1">
                <a:solidFill>
                  <a:srgbClr val="E8E8E8"/>
                </a:solidFill>
              </a:rPr>
              <a:t>armour</a:t>
            </a:r>
            <a:r>
              <a:rPr sz="1600" dirty="0">
                <a:solidFill>
                  <a:srgbClr val="E8E8E8"/>
                </a:solidFill>
              </a:rPr>
              <a:t>, small shield; 2 daggers, falcata, sling + 20 bullets.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Backpack, bandages, blanket, writing kit, rations, rope, sack, thieves' tools, tinderbox, 2 torches, wineskin, spell book; 3 </a:t>
            </a:r>
            <a:r>
              <a:rPr sz="1600" dirty="0" err="1">
                <a:solidFill>
                  <a:srgbClr val="E8E8E8"/>
                </a:solidFill>
              </a:rPr>
              <a:t>gp</a:t>
            </a:r>
            <a:r>
              <a:rPr sz="1600" dirty="0">
                <a:solidFill>
                  <a:srgbClr val="E8E8E8"/>
                </a:solidFill>
              </a:rPr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4912A0-5DF8-4213-1560-1EB03689937D}"/>
              </a:ext>
            </a:extLst>
          </p:cNvPr>
          <p:cNvSpPr>
            <a:spLocks noGrp="1"/>
          </p:cNvSpPr>
          <p:nvPr/>
        </p:nvSpPr>
        <p:spPr>
          <a:xfrm>
            <a:off x="4416552" y="1219200"/>
            <a:ext cx="4000500" cy="4991100"/>
          </a:xfrm>
          <a:prstGeom prst="rect">
            <a:avLst/>
          </a:prstGeom>
          <a:solidFill>
            <a:srgbClr val="0E161C"/>
          </a:solidFill>
          <a:ln w="19050">
            <a:solidFill>
              <a:srgbClr val="67C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vert="horz" lIns="228600" tIns="190500" rIns="228600" bIns="171450" anchor="t">
            <a:normAutofit fontScale="96082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ILLUSIONIST SPELL - 1 KNOWN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d% </a:t>
            </a:r>
            <a:r>
              <a:rPr lang="en-US" sz="1600" dirty="0">
                <a:solidFill>
                  <a:srgbClr val="E8E8E8"/>
                </a:solidFill>
              </a:rPr>
              <a:t>(</a:t>
            </a:r>
            <a:r>
              <a:rPr sz="1600" dirty="0">
                <a:solidFill>
                  <a:srgbClr val="E8E8E8"/>
                </a:solidFill>
              </a:rPr>
              <a:t>27</a:t>
            </a:r>
            <a:r>
              <a:rPr lang="en-US" sz="1600" dirty="0">
                <a:solidFill>
                  <a:srgbClr val="E8E8E8"/>
                </a:solidFill>
              </a:rPr>
              <a:t>) -</a:t>
            </a:r>
            <a:r>
              <a:rPr sz="1600" dirty="0">
                <a:solidFill>
                  <a:srgbClr val="E8E8E8"/>
                </a:solidFill>
              </a:rPr>
              <a:t> Detect Invisibility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Casts </a:t>
            </a:r>
            <a:r>
              <a:rPr lang="en-US" sz="1600" dirty="0">
                <a:solidFill>
                  <a:srgbClr val="E8E8E8"/>
                </a:solidFill>
              </a:rPr>
              <a:t>2</a:t>
            </a:r>
            <a:r>
              <a:rPr sz="1600" dirty="0">
                <a:solidFill>
                  <a:srgbClr val="E8E8E8"/>
                </a:solidFill>
              </a:rPr>
              <a:t> level</a:t>
            </a:r>
            <a:r>
              <a:rPr lang="en-US" sz="1600" dirty="0">
                <a:solidFill>
                  <a:srgbClr val="E8E8E8"/>
                </a:solidFill>
              </a:rPr>
              <a:t> </a:t>
            </a:r>
            <a:r>
              <a:rPr sz="1600" dirty="0">
                <a:solidFill>
                  <a:srgbClr val="E8E8E8"/>
                </a:solidFill>
              </a:rPr>
              <a:t>1 spell</a:t>
            </a:r>
            <a:r>
              <a:rPr lang="en-US" sz="1600" dirty="0">
                <a:solidFill>
                  <a:srgbClr val="E8E8E8"/>
                </a:solidFill>
              </a:rPr>
              <a:t>s</a:t>
            </a:r>
            <a:r>
              <a:rPr sz="1600" dirty="0">
                <a:solidFill>
                  <a:srgbClr val="E8E8E8"/>
                </a:solidFill>
              </a:rPr>
              <a:t>/day</a:t>
            </a:r>
            <a:r>
              <a:rPr lang="en-US" sz="1600" dirty="0">
                <a:solidFill>
                  <a:srgbClr val="E8E8E8"/>
                </a:solidFill>
              </a:rPr>
              <a:t>: 1 base +1 INT.</a:t>
            </a: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OTHER STATISTICS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AC 4: studded 6, shield +1, </a:t>
            </a:r>
            <a:r>
              <a:rPr lang="en-US" sz="1600" dirty="0">
                <a:solidFill>
                  <a:srgbClr val="E8E8E8"/>
                </a:solidFill>
              </a:rPr>
              <a:t>DX </a:t>
            </a:r>
            <a:r>
              <a:rPr sz="1600" dirty="0">
                <a:solidFill>
                  <a:srgbClr val="E8E8E8"/>
                </a:solidFill>
              </a:rPr>
              <a:t>+1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MV 40  -  HD 1d6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HP 7: roll 6 + 1 CON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SV 16  -  FA 1  -  CA 1  -  TA n/a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C759FB-76FB-194D-6AB2-CA4177529566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B453DD-F38E-2B68-75FA-4CB63863F9A1}"/>
              </a:ext>
            </a:extLst>
          </p:cNvPr>
          <p:cNvSpPr txBox="1"/>
          <p:nvPr/>
        </p:nvSpPr>
        <p:spPr>
          <a:xfrm>
            <a:off x="9126855" y="6490397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44E46-1569-13AE-71F0-771BF09022A8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19756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960" y="-3444"/>
            <a:ext cx="4257040" cy="68614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8EAB2C-8533-0477-B8D4-B3643916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59536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KEET YEIL - SHAMAN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D11411-FC01-EA60-9361-02F057C3C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3820160" cy="4991100"/>
          </a:xfrm>
        </p:spPr>
        <p:txBody>
          <a:bodyPr lIns="228600" tIns="190500" rIns="228600" bIns="171450" anchor="t">
            <a:noAutofit/>
          </a:bodyPr>
          <a:lstStyle/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BACKGROUND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Tlingit woman, age 31; 5 ft. 3 in., 125 lb.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Black hair, brown eyes; Neutral.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Common + Tlingit + Esquimaux; Raven totem; hunter/trapper.</a:t>
            </a:r>
          </a:p>
          <a:p>
            <a:pPr>
              <a:buNone/>
            </a:pP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SHAMAN STARTING PACK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Studded </a:t>
            </a:r>
            <a:r>
              <a:rPr sz="1600" dirty="0" err="1">
                <a:solidFill>
                  <a:srgbClr val="E8E8E8"/>
                </a:solidFill>
              </a:rPr>
              <a:t>armour</a:t>
            </a:r>
            <a:r>
              <a:rPr sz="1600" dirty="0">
                <a:solidFill>
                  <a:srgbClr val="E8E8E8"/>
                </a:solidFill>
              </a:rPr>
              <a:t>; war club, dagger; backpack, bandages, belladonna, censer, totem, 12 incense sticks, mask, rattle.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Rations, rope, sack, tinderbox, 3 torches, wineskin, bark-sheet spell book; 2 </a:t>
            </a:r>
            <a:r>
              <a:rPr sz="1600" dirty="0" err="1">
                <a:solidFill>
                  <a:srgbClr val="E8E8E8"/>
                </a:solidFill>
              </a:rPr>
              <a:t>gp</a:t>
            </a:r>
            <a:r>
              <a:rPr sz="1600" dirty="0">
                <a:solidFill>
                  <a:srgbClr val="E8E8E8"/>
                </a:solidFill>
              </a:rPr>
              <a:t>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8A4610-0D9C-A9D9-583A-357A71139EA9}"/>
              </a:ext>
            </a:extLst>
          </p:cNvPr>
          <p:cNvSpPr>
            <a:spLocks noGrp="1"/>
          </p:cNvSpPr>
          <p:nvPr/>
        </p:nvSpPr>
        <p:spPr>
          <a:xfrm>
            <a:off x="4419600" y="1219200"/>
            <a:ext cx="4000500" cy="4991100"/>
          </a:xfrm>
          <a:prstGeom prst="rect">
            <a:avLst/>
          </a:prstGeom>
          <a:solidFill>
            <a:srgbClr val="0E161C"/>
          </a:solidFill>
          <a:ln w="19050">
            <a:solidFill>
              <a:srgbClr val="67C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vert="horz" lIns="228600" tIns="190500" rIns="228600" bIns="171450" anchor="t">
            <a:normAutofit fontScale="98685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SCHOOLS + STARTING SPELL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Druid + Necromancer selected.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d% 92  Shillelagh - Druid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Casts </a:t>
            </a:r>
            <a:r>
              <a:rPr lang="en-US" sz="1600" dirty="0">
                <a:solidFill>
                  <a:srgbClr val="E8E8E8"/>
                </a:solidFill>
              </a:rPr>
              <a:t>2</a:t>
            </a:r>
            <a:r>
              <a:rPr sz="1600" dirty="0">
                <a:solidFill>
                  <a:srgbClr val="E8E8E8"/>
                </a:solidFill>
              </a:rPr>
              <a:t> level</a:t>
            </a:r>
            <a:r>
              <a:rPr lang="en-US" sz="1600" dirty="0">
                <a:solidFill>
                  <a:srgbClr val="E8E8E8"/>
                </a:solidFill>
              </a:rPr>
              <a:t> </a:t>
            </a:r>
            <a:r>
              <a:rPr sz="1600" dirty="0">
                <a:solidFill>
                  <a:srgbClr val="E8E8E8"/>
                </a:solidFill>
              </a:rPr>
              <a:t>1 spell</a:t>
            </a:r>
            <a:r>
              <a:rPr lang="en-US" sz="1600" dirty="0">
                <a:solidFill>
                  <a:srgbClr val="E8E8E8"/>
                </a:solidFill>
              </a:rPr>
              <a:t>s</a:t>
            </a:r>
            <a:r>
              <a:rPr sz="1600" dirty="0">
                <a:solidFill>
                  <a:srgbClr val="E8E8E8"/>
                </a:solidFill>
              </a:rPr>
              <a:t>/day</a:t>
            </a:r>
            <a:r>
              <a:rPr lang="en-US" sz="1600" dirty="0">
                <a:solidFill>
                  <a:srgbClr val="E8E8E8"/>
                </a:solidFill>
              </a:rPr>
              <a:t>: 1 base +1 WIS.</a:t>
            </a: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Necromancer spell</a:t>
            </a:r>
            <a:r>
              <a:rPr lang="en-US" sz="1600" dirty="0">
                <a:solidFill>
                  <a:srgbClr val="E8E8E8"/>
                </a:solidFill>
              </a:rPr>
              <a:t>s</a:t>
            </a:r>
            <a:r>
              <a:rPr sz="1600" dirty="0">
                <a:solidFill>
                  <a:srgbClr val="E8E8E8"/>
                </a:solidFill>
              </a:rPr>
              <a:t> begin at level 2.</a:t>
            </a:r>
          </a:p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OTHER STATISTICS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AC 6  -  MV 40  -  HD 1d6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HP 4: roll 3 + 1 CON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SV 16  -  FA 0  -  CA 1  -  TA n/a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DBC89-2DAC-988C-24B9-F7FBC5A3C18F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8761A8-1411-33C4-BD3A-6618540CA8F5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1CCB3C-04F8-9BA2-1D3B-D2F6CCB5B7E9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53570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486BD9-E356-C0C7-F716-38F01294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59536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XARTHANOS - WARLOCK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AF8339-EF9D-887C-FC97-E54A445F7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3822192" cy="49911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Autofit/>
          </a:bodyPr>
          <a:lstStyle/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BACKGROUND</a:t>
            </a:r>
          </a:p>
          <a:p>
            <a:pPr>
              <a:buNone/>
            </a:pPr>
            <a:r>
              <a:rPr sz="1600" dirty="0" err="1">
                <a:solidFill>
                  <a:srgbClr val="E8E8E8"/>
                </a:solidFill>
              </a:rPr>
              <a:t>Ixian</a:t>
            </a:r>
            <a:r>
              <a:rPr sz="1600" dirty="0">
                <a:solidFill>
                  <a:srgbClr val="E8E8E8"/>
                </a:solidFill>
              </a:rPr>
              <a:t> man, age 28; 6 ft. 1 in., 205 lb.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Black hair, </a:t>
            </a:r>
            <a:r>
              <a:rPr lang="en-US" sz="1600" dirty="0">
                <a:solidFill>
                  <a:srgbClr val="E8E8E8"/>
                </a:solidFill>
              </a:rPr>
              <a:t>black</a:t>
            </a:r>
            <a:r>
              <a:rPr sz="1600" dirty="0">
                <a:solidFill>
                  <a:srgbClr val="E8E8E8"/>
                </a:solidFill>
              </a:rPr>
              <a:t> eyes; Neutral.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Common + Thracian + Hellenic + Old Norse; </a:t>
            </a:r>
            <a:r>
              <a:rPr sz="1600" dirty="0" err="1">
                <a:solidFill>
                  <a:srgbClr val="E8E8E8"/>
                </a:solidFill>
              </a:rPr>
              <a:t>Aurorus</a:t>
            </a:r>
            <a:r>
              <a:rPr sz="1600" dirty="0">
                <a:solidFill>
                  <a:srgbClr val="E8E8E8"/>
                </a:solidFill>
              </a:rPr>
              <a:t>; soldier/mercenary.</a:t>
            </a:r>
          </a:p>
          <a:p>
            <a:pPr>
              <a:buNone/>
            </a:pP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WARLOCK STARTING PACK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Scale mail; battle axe, light crossbow + 20 bolts; backpack, bandages, bolt case, writing kit.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Rations, rope, tinderbox, 2 torches, wineskin, spell book; 4 </a:t>
            </a:r>
            <a:r>
              <a:rPr sz="1600" dirty="0" err="1">
                <a:solidFill>
                  <a:srgbClr val="E8E8E8"/>
                </a:solidFill>
              </a:rPr>
              <a:t>gp</a:t>
            </a:r>
            <a:r>
              <a:rPr sz="1600" dirty="0">
                <a:solidFill>
                  <a:srgbClr val="E8E8E8"/>
                </a:solidFill>
              </a:rPr>
              <a:t>.</a:t>
            </a:r>
          </a:p>
        </p:txBody>
      </p:sp>
      <p:pic>
        <p:nvPicPr>
          <p:cNvPr id="1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097" y="0"/>
            <a:ext cx="4254903" cy="68580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EC4C4A3-C3EB-EFB7-03AB-E95532DE78A2}"/>
              </a:ext>
            </a:extLst>
          </p:cNvPr>
          <p:cNvSpPr>
            <a:spLocks noGrp="1"/>
          </p:cNvSpPr>
          <p:nvPr/>
        </p:nvSpPr>
        <p:spPr>
          <a:xfrm>
            <a:off x="4416552" y="1219200"/>
            <a:ext cx="4000500" cy="4991100"/>
          </a:xfrm>
          <a:prstGeom prst="rect">
            <a:avLst/>
          </a:prstGeom>
          <a:solidFill>
            <a:srgbClr val="0E161C"/>
          </a:solidFill>
          <a:ln w="19050">
            <a:solidFill>
              <a:srgbClr val="67C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vert="horz" lIns="228600" tIns="190500" rIns="228600" bIns="171450" anchor="t">
            <a:normAutofit fontScale="99143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MAGICIAN SPELL - 1 KNOWN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Magician school selected; </a:t>
            </a:r>
            <a:r>
              <a:rPr lang="en-US" sz="1600" dirty="0">
                <a:solidFill>
                  <a:srgbClr val="E8E8E8"/>
                </a:solidFill>
              </a:rPr>
              <a:t>WS </a:t>
            </a:r>
            <a:r>
              <a:rPr sz="1600" dirty="0">
                <a:solidFill>
                  <a:srgbClr val="E8E8E8"/>
                </a:solidFill>
              </a:rPr>
              <a:t>10 rules out ice lord, fire lord, and death soldier.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d% </a:t>
            </a:r>
            <a:r>
              <a:rPr lang="en-US" sz="1600" dirty="0">
                <a:solidFill>
                  <a:srgbClr val="E8E8E8"/>
                </a:solidFill>
              </a:rPr>
              <a:t>(</a:t>
            </a:r>
            <a:r>
              <a:rPr sz="1600" dirty="0">
                <a:solidFill>
                  <a:srgbClr val="E8E8E8"/>
                </a:solidFill>
              </a:rPr>
              <a:t>74</a:t>
            </a:r>
            <a:r>
              <a:rPr lang="en-US" sz="1600" dirty="0">
                <a:solidFill>
                  <a:srgbClr val="E8E8E8"/>
                </a:solidFill>
              </a:rPr>
              <a:t>) -</a:t>
            </a:r>
            <a:r>
              <a:rPr sz="1600" dirty="0">
                <a:solidFill>
                  <a:srgbClr val="E8E8E8"/>
                </a:solidFill>
              </a:rPr>
              <a:t> Shocking Grasp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Casts </a:t>
            </a:r>
            <a:r>
              <a:rPr lang="en-US" sz="1600" dirty="0">
                <a:solidFill>
                  <a:srgbClr val="E8E8E8"/>
                </a:solidFill>
              </a:rPr>
              <a:t>2</a:t>
            </a:r>
            <a:r>
              <a:rPr sz="1600" dirty="0">
                <a:solidFill>
                  <a:srgbClr val="E8E8E8"/>
                </a:solidFill>
              </a:rPr>
              <a:t> level</a:t>
            </a:r>
            <a:r>
              <a:rPr lang="en-US" sz="1600" dirty="0">
                <a:solidFill>
                  <a:srgbClr val="E8E8E8"/>
                </a:solidFill>
              </a:rPr>
              <a:t> </a:t>
            </a:r>
            <a:r>
              <a:rPr sz="1600" dirty="0">
                <a:solidFill>
                  <a:srgbClr val="E8E8E8"/>
                </a:solidFill>
              </a:rPr>
              <a:t>1 spell</a:t>
            </a:r>
            <a:r>
              <a:rPr lang="en-US" sz="1600" dirty="0">
                <a:solidFill>
                  <a:srgbClr val="E8E8E8"/>
                </a:solidFill>
              </a:rPr>
              <a:t>s</a:t>
            </a:r>
            <a:r>
              <a:rPr sz="1600" dirty="0">
                <a:solidFill>
                  <a:srgbClr val="E8E8E8"/>
                </a:solidFill>
              </a:rPr>
              <a:t>/day</a:t>
            </a:r>
            <a:r>
              <a:rPr lang="en-US" sz="1600" dirty="0">
                <a:solidFill>
                  <a:srgbClr val="E8E8E8"/>
                </a:solidFill>
              </a:rPr>
              <a:t>: 1 base +1 INT.</a:t>
            </a: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OTHER STATISTICS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AC 6  -  MV 30  -  HD 1d8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HP 9: roll 8 + 1 CON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SV 16  -  FA 1  -  CA 1  -  TA n/a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CBE9C-69EB-FE38-E2FA-80A80A614F08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ADA392-C9CB-AF94-39B4-B3080D57EF01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3115B4-5711-FB40-4C24-B9B94B245B9F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1221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CD93F9-2E6F-7DD7-BC71-4F7B8E8C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59536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SIKU - BERSERKER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8CCC6F-5154-AD34-F820-767B60B42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3822192" cy="4991100"/>
          </a:xfrm>
        </p:spPr>
        <p:txBody>
          <a:bodyPr lIns="228600" tIns="190500" rIns="228600" bIns="171450" anchor="t">
            <a:noAutofit/>
          </a:bodyPr>
          <a:lstStyle/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BACKGROUND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Esquimaux woman, age 20; 5 ft. 7 in., 155 lb.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Black hair, dark eyes; Chaotic Good.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Speaks Common + Esquimaux; illiterate at </a:t>
            </a:r>
            <a:r>
              <a:rPr lang="en-US" sz="1600" dirty="0">
                <a:solidFill>
                  <a:srgbClr val="E8E8E8"/>
                </a:solidFill>
              </a:rPr>
              <a:t>IN </a:t>
            </a:r>
            <a:r>
              <a:rPr sz="1600" dirty="0">
                <a:solidFill>
                  <a:srgbClr val="E8E8E8"/>
                </a:solidFill>
              </a:rPr>
              <a:t>5.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Ancestral bear spirit; fisherman/whaler.</a:t>
            </a:r>
          </a:p>
          <a:p>
            <a:pPr>
              <a:buNone/>
            </a:pP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BERSERKER STARTING PACK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Scale mail; battle axe, 2 hand axes, broad sword; backpack, pouch, rations, sack, tinderbox, 3 torches, wineskin; 2 </a:t>
            </a:r>
            <a:r>
              <a:rPr sz="1600" dirty="0" err="1">
                <a:solidFill>
                  <a:srgbClr val="E8E8E8"/>
                </a:solidFill>
              </a:rPr>
              <a:t>gp</a:t>
            </a:r>
            <a:r>
              <a:rPr sz="1600" dirty="0">
                <a:solidFill>
                  <a:srgbClr val="E8E8E8"/>
                </a:solidFill>
              </a:rPr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09DB27-0138-5764-4B41-166E9E17A6E2}"/>
              </a:ext>
            </a:extLst>
          </p:cNvPr>
          <p:cNvSpPr>
            <a:spLocks noGrp="1"/>
          </p:cNvSpPr>
          <p:nvPr/>
        </p:nvSpPr>
        <p:spPr>
          <a:xfrm>
            <a:off x="4416552" y="1219200"/>
            <a:ext cx="4000500" cy="4991100"/>
          </a:xfrm>
          <a:prstGeom prst="rect">
            <a:avLst/>
          </a:prstGeom>
          <a:solidFill>
            <a:srgbClr val="0E161C"/>
          </a:solidFill>
          <a:ln w="19050">
            <a:solidFill>
              <a:srgbClr val="67C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vert="horz" lIns="228600" tIns="190500" rIns="228600" bIns="171450" anchor="t">
            <a:normAutofit fontScale="95389"/>
          </a:bodyPr>
          <a:lstStyle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STARTING SPELLS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None - Berserker is not a casting class.</a:t>
            </a:r>
          </a:p>
          <a:p>
            <a:pPr>
              <a:buNone/>
            </a:pPr>
            <a:endParaRPr sz="1600" dirty="0">
              <a:solidFill>
                <a:srgbClr val="E8E8E8"/>
              </a:solidFill>
            </a:endParaRPr>
          </a:p>
          <a:p>
            <a:pPr>
              <a:buNone/>
            </a:pPr>
            <a:r>
              <a:rPr sz="1600" b="1" dirty="0">
                <a:solidFill>
                  <a:srgbClr val="E8E8E8"/>
                </a:solidFill>
              </a:rPr>
              <a:t>OTHER STATISTICS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AC 5: scale 6, </a:t>
            </a:r>
            <a:r>
              <a:rPr lang="en-US" sz="1600" dirty="0">
                <a:solidFill>
                  <a:srgbClr val="E8E8E8"/>
                </a:solidFill>
              </a:rPr>
              <a:t>DX </a:t>
            </a:r>
            <a:r>
              <a:rPr sz="1600" dirty="0">
                <a:solidFill>
                  <a:srgbClr val="E8E8E8"/>
                </a:solidFill>
              </a:rPr>
              <a:t>+1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Natural AC 8 when </a:t>
            </a:r>
            <a:r>
              <a:rPr sz="1600" dirty="0" err="1">
                <a:solidFill>
                  <a:srgbClr val="E8E8E8"/>
                </a:solidFill>
              </a:rPr>
              <a:t>unarmoured</a:t>
            </a:r>
            <a:r>
              <a:rPr sz="1600" dirty="0">
                <a:solidFill>
                  <a:srgbClr val="E8E8E8"/>
                </a:solidFill>
              </a:rPr>
              <a:t>.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MV 30  -  HD 1d12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HP 10: roll 9 + 1 CON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SV 16, +2 all saves  -  FA 1</a:t>
            </a:r>
          </a:p>
          <a:p>
            <a:pPr>
              <a:buNone/>
            </a:pPr>
            <a:r>
              <a:rPr sz="1600" dirty="0">
                <a:solidFill>
                  <a:srgbClr val="E8E8E8"/>
                </a:solidFill>
              </a:rPr>
              <a:t>CA n/a  -  TA n/a</a:t>
            </a:r>
          </a:p>
        </p:txBody>
      </p:sp>
      <p:pic>
        <p:nvPicPr>
          <p:cNvPr id="14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097" y="0"/>
            <a:ext cx="4254903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606A88-A8A0-18DF-4DC9-CCD1F665241D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8DCD69-136D-7684-66B7-4C666114EB3A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4815F-C57B-52F4-7C5A-27767AFA2CF1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7387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7DA051-47D6-E5C1-271A-AB760F5D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11277600" cy="781050"/>
          </a:xfrm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3600" b="1">
                <a:solidFill>
                  <a:srgbClr val="F1F5F7"/>
                </a:solidFill>
                <a:latin typeface="Georgia"/>
                <a:ea typeface="Georgia"/>
                <a:cs typeface="Georgia"/>
              </a:defRPr>
            </a:pPr>
            <a:r>
              <a:rPr lang="en-US" sz="3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What to Roll / What to Choose?</a:t>
            </a:r>
            <a:endParaRPr sz="3600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F1F5F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/>
              <a:ea typeface="Georgia"/>
              <a:cs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4E946-21DB-E256-71AA-2B6C9D269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162050"/>
            <a:ext cx="10820400" cy="50673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 lIns="228600" tIns="190500" rIns="228600" bIns="171450" anchor="t">
            <a:normAutofit fontScale="87332" lnSpcReduction="10000"/>
          </a:bodyPr>
          <a:lstStyle/>
          <a:p>
            <a:pPr>
              <a:buNone/>
            </a:pPr>
            <a:r>
              <a:rPr lang="en-US" b="1" dirty="0">
                <a:solidFill>
                  <a:srgbClr val="E8E8E8"/>
                </a:solidFill>
              </a:rPr>
              <a:t>Races were selected – </a:t>
            </a:r>
            <a:r>
              <a:rPr lang="en-US" dirty="0">
                <a:solidFill>
                  <a:srgbClr val="E8E8E8"/>
                </a:solidFill>
              </a:rPr>
              <a:t>Each class has a piece of art in the Player’s Manual that denotes what race the particular class being represented is; for that reason I selected the race for each class, but it could easily be rolled.</a:t>
            </a:r>
            <a:endParaRPr lang="en-US" b="1" dirty="0">
              <a:solidFill>
                <a:srgbClr val="E8E8E8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rgbClr val="E8E8E8"/>
                </a:solidFill>
              </a:rPr>
              <a:t>Appendix A</a:t>
            </a:r>
            <a:r>
              <a:rPr lang="en-US" dirty="0">
                <a:solidFill>
                  <a:srgbClr val="E8E8E8"/>
                </a:solidFill>
              </a:rPr>
              <a:t> (page 286) in the Player’s Manual has name generation tables for each race in Hyperborea 3e.  Those were randomly rolled.</a:t>
            </a:r>
          </a:p>
          <a:p>
            <a:pPr>
              <a:buNone/>
            </a:pPr>
            <a:r>
              <a:rPr lang="en-US" dirty="0">
                <a:solidFill>
                  <a:srgbClr val="E8E8E8"/>
                </a:solidFill>
              </a:rPr>
              <a:t>Background, Height, Weight, and other traits were randomly rolled using the tables in the Player’s Manual.</a:t>
            </a:r>
          </a:p>
          <a:p>
            <a:pPr>
              <a:buNone/>
            </a:pPr>
            <a:endParaRPr lang="en-US" dirty="0">
              <a:solidFill>
                <a:srgbClr val="E8E8E8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E8E8E8"/>
                </a:solidFill>
              </a:rPr>
              <a:t>As a referee, the tables are greatly appreciated to help come up with NPC’s on the fly – especially the Names appendix!</a:t>
            </a:r>
          </a:p>
          <a:p>
            <a:pPr>
              <a:buNone/>
            </a:pPr>
            <a:endParaRPr lang="en-US" dirty="0">
              <a:solidFill>
                <a:srgbClr val="E8E8E8"/>
              </a:solidFill>
            </a:endParaRPr>
          </a:p>
          <a:p>
            <a:pPr>
              <a:buNone/>
            </a:pPr>
            <a:r>
              <a:rPr lang="en-US" i="1" dirty="0">
                <a:solidFill>
                  <a:srgbClr val="E8E8E8"/>
                </a:solidFill>
              </a:rPr>
              <a:t>PDFs for each of the six characters are linked in the description below!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6D7A1-F09C-ACA1-BDD4-15545791B5BD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1B496F-7DA1-0690-7DC7-DDEA64434955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2D026-6476-1259-19AD-8D4731548334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47560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D5603-4105-AB9D-D939-E58D5CAEB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B9685D1F-9C8C-2A90-264D-011ABA92E5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75" b="76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955D62-FACE-1E31-461F-5CEF7D954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450" y="1200150"/>
            <a:ext cx="9563100" cy="4457700"/>
          </a:xfrm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  <p:txBody>
          <a:bodyPr lIns="419100" tIns="323850" rIns="419100" bIns="285750" anchor="ctr">
            <a:normAutofit/>
          </a:bodyPr>
          <a:lstStyle/>
          <a:p>
            <a:pPr algn="ctr">
              <a:spcAft>
                <a:spcPts val="6"/>
              </a:spcAft>
              <a:buNone/>
            </a:pPr>
            <a:r>
              <a:rPr lang="en-US" sz="495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F1F5F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/>
                <a:ea typeface="Georgia"/>
                <a:cs typeface="Georgia"/>
              </a:rPr>
              <a:t>GO PLAY HYPERBOREA!</a:t>
            </a:r>
            <a:endParaRPr sz="1950" i="1" dirty="0">
              <a:solidFill>
                <a:srgbClr val="C7D2D9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D80943-D34C-9E7A-F6CD-CFB542F72484}"/>
              </a:ext>
            </a:extLst>
          </p:cNvPr>
          <p:cNvSpPr txBox="1"/>
          <p:nvPr/>
        </p:nvSpPr>
        <p:spPr>
          <a:xfrm>
            <a:off x="4563427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</a:rPr>
              <a:t>Like, Comment, Subscribe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2299FD-527D-C587-F9D0-BE00D4C01998}"/>
              </a:ext>
            </a:extLst>
          </p:cNvPr>
          <p:cNvSpPr txBox="1"/>
          <p:nvPr/>
        </p:nvSpPr>
        <p:spPr>
          <a:xfrm>
            <a:off x="9126855" y="6488668"/>
            <a:ext cx="306514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b="1" dirty="0">
                <a:ln>
                  <a:solidFill>
                    <a:schemeClr val="accent1"/>
                  </a:solidFill>
                </a:ln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ea typeface="Aptos"/>
                <a:cs typeface="Aptos"/>
              </a:rPr>
              <a:t>2026.08.04</a:t>
            </a:r>
            <a:endParaRPr lang="en-US" dirty="0">
              <a:ln>
                <a:solidFill>
                  <a:schemeClr val="accent1"/>
                </a:solidFill>
              </a:ln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ED2196-44D4-A89D-2BDD-796852EB7B32}"/>
              </a:ext>
            </a:extLst>
          </p:cNvPr>
          <p:cNvSpPr txBox="1"/>
          <p:nvPr/>
        </p:nvSpPr>
        <p:spPr>
          <a:xfrm>
            <a:off x="0" y="6488668"/>
            <a:ext cx="2348865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>
                <a:solidFill>
                  <a:srgbClr val="67C4E5"/>
                </a:solidFill>
                <a:effectLst>
                  <a:glow rad="2032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/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ARBITER'S ARCHIVE</a:t>
            </a:r>
            <a:endParaRPr lang="en-US" b="1" dirty="0">
              <a:solidFill>
                <a:srgbClr val="67C4E5"/>
              </a:solidFill>
              <a:effectLst>
                <a:glow rad="203200">
                  <a:schemeClr val="tx1">
                    <a:alpha val="40000"/>
                  </a:schemeClr>
                </a:glow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49040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4279</TotalTime>
  <Words>3331</Words>
  <Application>Microsoft Office PowerPoint</Application>
  <DocSecurity>0</DocSecurity>
  <PresentationFormat>Widescreen</PresentationFormat>
  <Paragraphs>400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Georgia</vt:lpstr>
      <vt:lpstr>Office Theme</vt:lpstr>
      <vt:lpstr>Hyperborea 3e Character Creation  How to roll up character so you can play THE BEST GAME</vt:lpstr>
      <vt:lpstr>Character Creation in Hyperborea 3e</vt:lpstr>
      <vt:lpstr>Step 1 + Step 2 Generate Attributes Choose a Class  I was a math major, so there are charts! And my real job is management consulting, so yes, this is powerpoint.</vt:lpstr>
      <vt:lpstr>Step 1: Generate Attributes</vt:lpstr>
      <vt:lpstr>A long time ago, in a high school far, far away…</vt:lpstr>
      <vt:lpstr>METHOD I  ·  The OG Method</vt:lpstr>
      <vt:lpstr>METHOD II  ·  The OG x3</vt:lpstr>
      <vt:lpstr>METHOD III  ·  The Modern Standard</vt:lpstr>
      <vt:lpstr>METHOD IV  ·  Method II Redux</vt:lpstr>
      <vt:lpstr>METHOD V  ·  My Personal Favorite</vt:lpstr>
      <vt:lpstr>METHOD VI  ·  Choose the class first</vt:lpstr>
      <vt:lpstr>Steps 3-6 Finish the Character  Backgrounds, Equipment, and Spells</vt:lpstr>
      <vt:lpstr>STEP 3 – Develop a Background – Pick or Roll!</vt:lpstr>
      <vt:lpstr>STEP 4 – Class Packs vs. Purchase Equipment</vt:lpstr>
      <vt:lpstr>STEP 5 – Determine Starting Spells</vt:lpstr>
      <vt:lpstr>STEP 6 – Record Other Statistics</vt:lpstr>
      <vt:lpstr>ZOTIKOS - PRIEST</vt:lpstr>
      <vt:lpstr>SIGRID - RUNEGRAVER</vt:lpstr>
      <vt:lpstr>CUNOVINDOS - LEGERDEMAINIST</vt:lpstr>
      <vt:lpstr>KEET YEIL - SHAMAN</vt:lpstr>
      <vt:lpstr>XARTHANOS - WARLOCK</vt:lpstr>
      <vt:lpstr>SIKU - BERSERKER</vt:lpstr>
      <vt:lpstr>What to Roll / What to Choose?</vt:lpstr>
      <vt:lpstr>GO PLAY HYPERBOREA!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 Tesch</cp:lastModifiedBy>
  <cp:revision>9</cp:revision>
  <dcterms:created xsi:type="dcterms:W3CDTF">2026-07-12T22:20:34Z</dcterms:created>
  <dcterms:modified xsi:type="dcterms:W3CDTF">2026-08-04T04:33:29Z</dcterms:modified>
</cp:coreProperties>
</file>